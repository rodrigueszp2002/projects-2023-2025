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7"/>
  </p:notesMasterIdLst>
  <p:sldIdLst>
    <p:sldId id="256" r:id="rId2"/>
    <p:sldId id="257" r:id="rId3"/>
    <p:sldId id="258" r:id="rId4"/>
    <p:sldId id="264" r:id="rId5"/>
    <p:sldId id="265" r:id="rId6"/>
    <p:sldId id="266" r:id="rId7"/>
    <p:sldId id="259" r:id="rId8"/>
    <p:sldId id="260" r:id="rId9"/>
    <p:sldId id="267" r:id="rId10"/>
    <p:sldId id="268" r:id="rId11"/>
    <p:sldId id="261" r:id="rId12"/>
    <p:sldId id="269" r:id="rId13"/>
    <p:sldId id="262" r:id="rId14"/>
    <p:sldId id="271" r:id="rId15"/>
    <p:sldId id="263"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90" autoAdjust="0"/>
    <p:restoredTop sz="94660"/>
  </p:normalViewPr>
  <p:slideViewPr>
    <p:cSldViewPr snapToGrid="0">
      <p:cViewPr>
        <p:scale>
          <a:sx n="158" d="100"/>
          <a:sy n="158" d="100"/>
        </p:scale>
        <p:origin x="-524" y="-19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49627B-BC5D-4102-A228-7A6C9F6C7625}" type="datetimeFigureOut">
              <a:rPr lang="pt-PT" smtClean="0"/>
              <a:t>01/02/2024</a:t>
            </a:fld>
            <a:endParaRPr lang="pt-P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P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pt-P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0821C-5984-4D43-B428-1B32C0F9CF30}" type="slidenum">
              <a:rPr lang="pt-PT" smtClean="0"/>
              <a:t>‹#›</a:t>
            </a:fld>
            <a:endParaRPr lang="pt-PT"/>
          </a:p>
        </p:txBody>
      </p:sp>
    </p:spTree>
    <p:extLst>
      <p:ext uri="{BB962C8B-B14F-4D97-AF65-F5344CB8AC3E}">
        <p14:creationId xmlns:p14="http://schemas.microsoft.com/office/powerpoint/2010/main" val="19162944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kern="1200" dirty="0" smtClean="0">
                <a:solidFill>
                  <a:schemeClr val="tx1"/>
                </a:solidFill>
                <a:effectLst/>
                <a:latin typeface="+mn-lt"/>
                <a:ea typeface="+mn-ea"/>
                <a:cs typeface="+mn-cs"/>
              </a:rPr>
              <a:t>Good morning, my name is José Pedro Rodrigues, and my project is called Analysis and forecast of the Earth Surface Temperature. </a:t>
            </a:r>
            <a:endParaRPr lang="pt-PT" sz="1200" kern="1200" dirty="0" smtClean="0">
              <a:solidFill>
                <a:schemeClr val="tx1"/>
              </a:solidFill>
              <a:effectLst/>
              <a:latin typeface="+mn-lt"/>
              <a:ea typeface="+mn-ea"/>
              <a:cs typeface="+mn-cs"/>
            </a:endParaRPr>
          </a:p>
          <a:p>
            <a:endParaRPr lang="pt-PT" dirty="0"/>
          </a:p>
        </p:txBody>
      </p:sp>
      <p:sp>
        <p:nvSpPr>
          <p:cNvPr id="4" name="Slide Number Placeholder 3"/>
          <p:cNvSpPr>
            <a:spLocks noGrp="1"/>
          </p:cNvSpPr>
          <p:nvPr>
            <p:ph type="sldNum" sz="quarter" idx="10"/>
          </p:nvPr>
        </p:nvSpPr>
        <p:spPr/>
        <p:txBody>
          <a:bodyPr/>
          <a:lstStyle/>
          <a:p>
            <a:fld id="{DEA0821C-5984-4D43-B428-1B32C0F9CF30}" type="slidenum">
              <a:rPr lang="pt-PT" smtClean="0"/>
              <a:t>1</a:t>
            </a:fld>
            <a:endParaRPr lang="pt-PT"/>
          </a:p>
        </p:txBody>
      </p:sp>
    </p:spTree>
    <p:extLst>
      <p:ext uri="{BB962C8B-B14F-4D97-AF65-F5344CB8AC3E}">
        <p14:creationId xmlns:p14="http://schemas.microsoft.com/office/powerpoint/2010/main" val="3809003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kern="1200" dirty="0" smtClean="0">
                <a:solidFill>
                  <a:schemeClr val="tx1"/>
                </a:solidFill>
                <a:effectLst/>
                <a:latin typeface="+mn-lt"/>
                <a:ea typeface="+mn-ea"/>
                <a:cs typeface="+mn-cs"/>
              </a:rPr>
              <a:t>The time series my project is based on is from a csv in </a:t>
            </a:r>
            <a:r>
              <a:rPr lang="en-GB" sz="1200" kern="1200" dirty="0" err="1" smtClean="0">
                <a:solidFill>
                  <a:schemeClr val="tx1"/>
                </a:solidFill>
                <a:effectLst/>
                <a:latin typeface="+mn-lt"/>
                <a:ea typeface="+mn-ea"/>
                <a:cs typeface="+mn-cs"/>
              </a:rPr>
              <a:t>kaggle</a:t>
            </a:r>
            <a:r>
              <a:rPr lang="en-GB" sz="1200" kern="1200" dirty="0" smtClean="0">
                <a:solidFill>
                  <a:schemeClr val="tx1"/>
                </a:solidFill>
                <a:effectLst/>
                <a:latin typeface="+mn-lt"/>
                <a:ea typeface="+mn-ea"/>
                <a:cs typeface="+mn-cs"/>
              </a:rPr>
              <a:t> called “GlobalTemperatures.csv”. The project was done using python in </a:t>
            </a:r>
            <a:r>
              <a:rPr lang="en-GB" sz="1200" kern="1200" dirty="0" err="1" smtClean="0">
                <a:solidFill>
                  <a:schemeClr val="tx1"/>
                </a:solidFill>
                <a:effectLst/>
                <a:latin typeface="+mn-lt"/>
                <a:ea typeface="+mn-ea"/>
                <a:cs typeface="+mn-cs"/>
              </a:rPr>
              <a:t>jupyter</a:t>
            </a:r>
            <a:r>
              <a:rPr lang="en-GB" sz="1200" kern="1200" dirty="0" smtClean="0">
                <a:solidFill>
                  <a:schemeClr val="tx1"/>
                </a:solidFill>
                <a:effectLst/>
                <a:latin typeface="+mn-lt"/>
                <a:ea typeface="+mn-ea"/>
                <a:cs typeface="+mn-cs"/>
              </a:rPr>
              <a:t> notebook, with the 6 main libraries used being: Pandas, </a:t>
            </a:r>
            <a:r>
              <a:rPr lang="en-GB" sz="1200" kern="1200" dirty="0" err="1" smtClean="0">
                <a:solidFill>
                  <a:schemeClr val="tx1"/>
                </a:solidFill>
                <a:effectLst/>
                <a:latin typeface="+mn-lt"/>
                <a:ea typeface="+mn-ea"/>
                <a:cs typeface="+mn-cs"/>
              </a:rPr>
              <a:t>Numpy</a:t>
            </a:r>
            <a:r>
              <a:rPr lang="en-GB" sz="1200" kern="1200" dirty="0" smtClean="0">
                <a:solidFill>
                  <a:schemeClr val="tx1"/>
                </a:solidFill>
                <a:effectLst/>
                <a:latin typeface="+mn-lt"/>
                <a:ea typeface="+mn-ea"/>
                <a:cs typeface="+mn-cs"/>
              </a:rPr>
              <a:t>, </a:t>
            </a:r>
            <a:r>
              <a:rPr lang="en-GB" sz="1200" kern="1200" dirty="0" err="1" smtClean="0">
                <a:solidFill>
                  <a:schemeClr val="tx1"/>
                </a:solidFill>
                <a:effectLst/>
                <a:latin typeface="+mn-lt"/>
                <a:ea typeface="+mn-ea"/>
                <a:cs typeface="+mn-cs"/>
              </a:rPr>
              <a:t>Matplot</a:t>
            </a:r>
            <a:r>
              <a:rPr lang="en-GB" sz="1200" kern="1200" dirty="0" smtClean="0">
                <a:solidFill>
                  <a:schemeClr val="tx1"/>
                </a:solidFill>
                <a:effectLst/>
                <a:latin typeface="+mn-lt"/>
                <a:ea typeface="+mn-ea"/>
                <a:cs typeface="+mn-cs"/>
              </a:rPr>
              <a:t> </a:t>
            </a:r>
            <a:r>
              <a:rPr lang="en-GB" sz="1200" kern="1200" dirty="0" err="1" smtClean="0">
                <a:solidFill>
                  <a:schemeClr val="tx1"/>
                </a:solidFill>
                <a:effectLst/>
                <a:latin typeface="+mn-lt"/>
                <a:ea typeface="+mn-ea"/>
                <a:cs typeface="+mn-cs"/>
              </a:rPr>
              <a:t>Seaborn</a:t>
            </a:r>
            <a:r>
              <a:rPr lang="en-GB" sz="1200" kern="1200" dirty="0" smtClean="0">
                <a:solidFill>
                  <a:schemeClr val="tx1"/>
                </a:solidFill>
                <a:effectLst/>
                <a:latin typeface="+mn-lt"/>
                <a:ea typeface="+mn-ea"/>
                <a:cs typeface="+mn-cs"/>
              </a:rPr>
              <a:t>, </a:t>
            </a:r>
            <a:r>
              <a:rPr lang="en-GB" sz="1200" kern="1200" dirty="0" err="1" smtClean="0">
                <a:solidFill>
                  <a:schemeClr val="tx1"/>
                </a:solidFill>
                <a:effectLst/>
                <a:latin typeface="+mn-lt"/>
                <a:ea typeface="+mn-ea"/>
                <a:cs typeface="+mn-cs"/>
              </a:rPr>
              <a:t>Sklearn</a:t>
            </a:r>
            <a:r>
              <a:rPr lang="en-GB" sz="1200" kern="1200" dirty="0" smtClean="0">
                <a:solidFill>
                  <a:schemeClr val="tx1"/>
                </a:solidFill>
                <a:effectLst/>
                <a:latin typeface="+mn-lt"/>
                <a:ea typeface="+mn-ea"/>
                <a:cs typeface="+mn-cs"/>
              </a:rPr>
              <a:t> and </a:t>
            </a:r>
            <a:r>
              <a:rPr lang="en-GB" sz="1200" kern="1200" dirty="0" err="1" smtClean="0">
                <a:solidFill>
                  <a:schemeClr val="tx1"/>
                </a:solidFill>
                <a:effectLst/>
                <a:latin typeface="+mn-lt"/>
                <a:ea typeface="+mn-ea"/>
                <a:cs typeface="+mn-cs"/>
              </a:rPr>
              <a:t>Statsmodel</a:t>
            </a:r>
            <a:r>
              <a:rPr lang="en-GB" sz="1200" kern="1200" dirty="0" smtClean="0">
                <a:solidFill>
                  <a:schemeClr val="tx1"/>
                </a:solidFill>
                <a:effectLst/>
                <a:latin typeface="+mn-lt"/>
                <a:ea typeface="+mn-ea"/>
                <a:cs typeface="+mn-cs"/>
              </a:rPr>
              <a:t>, which was the main focus due to being responsible for the EDA and forecasting Models. </a:t>
            </a:r>
          </a:p>
          <a:p>
            <a:pPr marL="0" marR="0" indent="0" algn="l" defTabSz="914400" rtl="0" eaLnBrk="1" fontAlgn="auto" latinLnBrk="0" hangingPunct="1">
              <a:lnSpc>
                <a:spcPct val="100000"/>
              </a:lnSpc>
              <a:spcBef>
                <a:spcPts val="0"/>
              </a:spcBef>
              <a:spcAft>
                <a:spcPts val="0"/>
              </a:spcAft>
              <a:buClrTx/>
              <a:buSzTx/>
              <a:buFontTx/>
              <a:buNone/>
              <a:tabLst/>
              <a:defRPr/>
            </a:pPr>
            <a:r>
              <a:rPr lang="en-GB" sz="1200" kern="1200" dirty="0" smtClean="0">
                <a:solidFill>
                  <a:schemeClr val="tx1"/>
                </a:solidFill>
                <a:effectLst/>
                <a:latin typeface="+mn-lt"/>
                <a:ea typeface="+mn-ea"/>
                <a:cs typeface="+mn-cs"/>
              </a:rPr>
              <a:t>Some pre-processing of the data was also done. This was mainly dropping redundant columns and Handling missing values. The original CSV had 9 columns with data being from 1975 to 2015, after pre-processing the data was only 2 columns (Date and </a:t>
            </a:r>
            <a:r>
              <a:rPr lang="en-GB" sz="1200" kern="1200" dirty="0" err="1" smtClean="0">
                <a:solidFill>
                  <a:schemeClr val="tx1"/>
                </a:solidFill>
                <a:effectLst/>
                <a:latin typeface="+mn-lt"/>
                <a:ea typeface="+mn-ea"/>
                <a:cs typeface="+mn-cs"/>
              </a:rPr>
              <a:t>LandTemperatureAverage</a:t>
            </a:r>
            <a:r>
              <a:rPr lang="en-GB" sz="1200" kern="1200" dirty="0" smtClean="0">
                <a:solidFill>
                  <a:schemeClr val="tx1"/>
                </a:solidFill>
                <a:effectLst/>
                <a:latin typeface="+mn-lt"/>
                <a:ea typeface="+mn-ea"/>
                <a:cs typeface="+mn-cs"/>
              </a:rPr>
              <a:t>) and consisted of data that was only from 1985 to 2015. </a:t>
            </a:r>
            <a:endParaRPr lang="pt-PT" sz="1200" kern="1200" dirty="0" smtClean="0">
              <a:solidFill>
                <a:schemeClr val="tx1"/>
              </a:solidFill>
              <a:effectLst/>
              <a:latin typeface="+mn-lt"/>
              <a:ea typeface="+mn-ea"/>
              <a:cs typeface="+mn-cs"/>
            </a:endParaRPr>
          </a:p>
          <a:p>
            <a:endParaRPr lang="pt-PT" dirty="0"/>
          </a:p>
        </p:txBody>
      </p:sp>
      <p:sp>
        <p:nvSpPr>
          <p:cNvPr id="4" name="Slide Number Placeholder 3"/>
          <p:cNvSpPr>
            <a:spLocks noGrp="1"/>
          </p:cNvSpPr>
          <p:nvPr>
            <p:ph type="sldNum" sz="quarter" idx="10"/>
          </p:nvPr>
        </p:nvSpPr>
        <p:spPr/>
        <p:txBody>
          <a:bodyPr/>
          <a:lstStyle/>
          <a:p>
            <a:fld id="{DEA0821C-5984-4D43-B428-1B32C0F9CF30}" type="slidenum">
              <a:rPr lang="pt-PT" smtClean="0"/>
              <a:t>2</a:t>
            </a:fld>
            <a:endParaRPr lang="pt-PT"/>
          </a:p>
        </p:txBody>
      </p:sp>
    </p:spTree>
    <p:extLst>
      <p:ext uri="{BB962C8B-B14F-4D97-AF65-F5344CB8AC3E}">
        <p14:creationId xmlns:p14="http://schemas.microsoft.com/office/powerpoint/2010/main" val="15752225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smtClean="0">
                <a:solidFill>
                  <a:schemeClr val="tx1"/>
                </a:solidFill>
                <a:effectLst/>
                <a:latin typeface="+mn-lt"/>
                <a:ea typeface="+mn-ea"/>
                <a:cs typeface="+mn-cs"/>
              </a:rPr>
              <a:t>My EDA process begun with the visualization of the data.</a:t>
            </a:r>
            <a:r>
              <a:rPr lang="en-GB" sz="1200" b="1" kern="1200" dirty="0" smtClean="0">
                <a:solidFill>
                  <a:schemeClr val="tx1"/>
                </a:solidFill>
                <a:effectLst/>
                <a:latin typeface="+mn-lt"/>
                <a:ea typeface="+mn-ea"/>
                <a:cs typeface="+mn-cs"/>
              </a:rPr>
              <a:t> </a:t>
            </a:r>
            <a:r>
              <a:rPr lang="en-GB" sz="1200" kern="1200" dirty="0" smtClean="0">
                <a:solidFill>
                  <a:schemeClr val="tx1"/>
                </a:solidFill>
                <a:effectLst/>
                <a:latin typeface="+mn-lt"/>
                <a:ea typeface="+mn-ea"/>
                <a:cs typeface="+mn-cs"/>
              </a:rPr>
              <a:t>After plotting the time series my initial suspicions were of strong seasonality and maybe a slight trend but further analysis needed to be done.</a:t>
            </a:r>
            <a:endParaRPr lang="pt-PT" dirty="0"/>
          </a:p>
        </p:txBody>
      </p:sp>
      <p:sp>
        <p:nvSpPr>
          <p:cNvPr id="4" name="Slide Number Placeholder 3"/>
          <p:cNvSpPr>
            <a:spLocks noGrp="1"/>
          </p:cNvSpPr>
          <p:nvPr>
            <p:ph type="sldNum" sz="quarter" idx="10"/>
          </p:nvPr>
        </p:nvSpPr>
        <p:spPr/>
        <p:txBody>
          <a:bodyPr/>
          <a:lstStyle/>
          <a:p>
            <a:fld id="{DEA0821C-5984-4D43-B428-1B32C0F9CF30}" type="slidenum">
              <a:rPr lang="pt-PT" smtClean="0"/>
              <a:t>3</a:t>
            </a:fld>
            <a:endParaRPr lang="pt-PT"/>
          </a:p>
        </p:txBody>
      </p:sp>
    </p:spTree>
    <p:extLst>
      <p:ext uri="{BB962C8B-B14F-4D97-AF65-F5344CB8AC3E}">
        <p14:creationId xmlns:p14="http://schemas.microsoft.com/office/powerpoint/2010/main" val="34074009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smtClean="0">
                <a:solidFill>
                  <a:schemeClr val="tx1"/>
                </a:solidFill>
                <a:effectLst/>
                <a:latin typeface="+mn-lt"/>
                <a:ea typeface="+mn-ea"/>
                <a:cs typeface="+mn-cs"/>
              </a:rPr>
              <a:t>The</a:t>
            </a:r>
            <a:r>
              <a:rPr lang="en-GB" sz="1200" kern="1200" baseline="0" dirty="0" smtClean="0">
                <a:solidFill>
                  <a:schemeClr val="tx1"/>
                </a:solidFill>
                <a:effectLst/>
                <a:latin typeface="+mn-lt"/>
                <a:ea typeface="+mn-ea"/>
                <a:cs typeface="+mn-cs"/>
              </a:rPr>
              <a:t> first step of that process was made </a:t>
            </a:r>
            <a:r>
              <a:rPr lang="en-GB" sz="1200" kern="1200" dirty="0" smtClean="0">
                <a:solidFill>
                  <a:schemeClr val="tx1"/>
                </a:solidFill>
                <a:effectLst/>
                <a:latin typeface="+mn-lt"/>
                <a:ea typeface="+mn-ea"/>
                <a:cs typeface="+mn-cs"/>
              </a:rPr>
              <a:t>with the creation of 3 different plots. The first one was yearly temperatures at different months: this plot showed that the different years behaved similarly, indicating seasonality. The second plot indicated average land temperature over the years, this plot clearly showed an increase in trend. And lastly a lag plot that indicated yearly seasonality, as you can see in Lag 12. </a:t>
            </a:r>
            <a:endParaRPr lang="pt-PT" dirty="0"/>
          </a:p>
        </p:txBody>
      </p:sp>
      <p:sp>
        <p:nvSpPr>
          <p:cNvPr id="4" name="Slide Number Placeholder 3"/>
          <p:cNvSpPr>
            <a:spLocks noGrp="1"/>
          </p:cNvSpPr>
          <p:nvPr>
            <p:ph type="sldNum" sz="quarter" idx="10"/>
          </p:nvPr>
        </p:nvSpPr>
        <p:spPr/>
        <p:txBody>
          <a:bodyPr/>
          <a:lstStyle/>
          <a:p>
            <a:fld id="{DEA0821C-5984-4D43-B428-1B32C0F9CF30}" type="slidenum">
              <a:rPr lang="pt-PT" smtClean="0"/>
              <a:t>4</a:t>
            </a:fld>
            <a:endParaRPr lang="pt-PT"/>
          </a:p>
        </p:txBody>
      </p:sp>
    </p:spTree>
    <p:extLst>
      <p:ext uri="{BB962C8B-B14F-4D97-AF65-F5344CB8AC3E}">
        <p14:creationId xmlns:p14="http://schemas.microsoft.com/office/powerpoint/2010/main" val="16475427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smtClean="0">
                <a:solidFill>
                  <a:schemeClr val="tx1"/>
                </a:solidFill>
                <a:effectLst/>
                <a:latin typeface="+mn-lt"/>
                <a:ea typeface="+mn-ea"/>
                <a:cs typeface="+mn-cs"/>
              </a:rPr>
              <a:t>For further analysis 2 methods of decomposition were performed. The first one was using a function in python with the same function as decompose in R. This divided the original Time Series in 4 plots. Original, Trend, Seasonality and residuals. A lag plot was then mad using these residuals, which as suspected showed no trend or seasonality.</a:t>
            </a:r>
            <a:endParaRPr lang="pt-PT" sz="1200" kern="1200" dirty="0" smtClean="0">
              <a:solidFill>
                <a:schemeClr val="tx1"/>
              </a:solidFill>
              <a:effectLst/>
              <a:latin typeface="+mn-lt"/>
              <a:ea typeface="+mn-ea"/>
              <a:cs typeface="+mn-cs"/>
            </a:endParaRPr>
          </a:p>
          <a:p>
            <a:r>
              <a:rPr lang="en-GB" sz="1200" kern="1200" dirty="0" smtClean="0">
                <a:solidFill>
                  <a:schemeClr val="tx1"/>
                </a:solidFill>
                <a:effectLst/>
                <a:latin typeface="+mn-lt"/>
                <a:ea typeface="+mn-ea"/>
                <a:cs typeface="+mn-cs"/>
              </a:rPr>
              <a:t>The other method of decomposition that was used was a seasonal difference operator, and plotting the residuals. A Non-seasonal difference was also investigated but was dropped due to the suspicion of over differencing, since it could lead to misleading results. </a:t>
            </a:r>
            <a:endParaRPr lang="pt-PT" sz="1200" kern="1200" dirty="0" smtClean="0">
              <a:solidFill>
                <a:schemeClr val="tx1"/>
              </a:solidFill>
              <a:effectLst/>
              <a:latin typeface="+mn-lt"/>
              <a:ea typeface="+mn-ea"/>
              <a:cs typeface="+mn-cs"/>
            </a:endParaRPr>
          </a:p>
          <a:p>
            <a:endParaRPr lang="pt-PT" dirty="0"/>
          </a:p>
        </p:txBody>
      </p:sp>
      <p:sp>
        <p:nvSpPr>
          <p:cNvPr id="4" name="Slide Number Placeholder 3"/>
          <p:cNvSpPr>
            <a:spLocks noGrp="1"/>
          </p:cNvSpPr>
          <p:nvPr>
            <p:ph type="sldNum" sz="quarter" idx="10"/>
          </p:nvPr>
        </p:nvSpPr>
        <p:spPr/>
        <p:txBody>
          <a:bodyPr/>
          <a:lstStyle/>
          <a:p>
            <a:fld id="{DEA0821C-5984-4D43-B428-1B32C0F9CF30}" type="slidenum">
              <a:rPr lang="pt-PT" smtClean="0"/>
              <a:t>5</a:t>
            </a:fld>
            <a:endParaRPr lang="pt-PT"/>
          </a:p>
        </p:txBody>
      </p:sp>
    </p:spTree>
    <p:extLst>
      <p:ext uri="{BB962C8B-B14F-4D97-AF65-F5344CB8AC3E}">
        <p14:creationId xmlns:p14="http://schemas.microsoft.com/office/powerpoint/2010/main" val="398163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smtClean="0">
                <a:solidFill>
                  <a:schemeClr val="tx1"/>
                </a:solidFill>
                <a:effectLst/>
                <a:latin typeface="+mn-lt"/>
                <a:ea typeface="+mn-ea"/>
                <a:cs typeface="+mn-cs"/>
              </a:rPr>
              <a:t>Stationarity was then confirmed using the ADF and KPSS tests. Analysing table.1 the original </a:t>
            </a:r>
            <a:r>
              <a:rPr lang="en-GB" sz="1200" kern="1200" dirty="0" err="1" smtClean="0">
                <a:solidFill>
                  <a:schemeClr val="tx1"/>
                </a:solidFill>
                <a:effectLst/>
                <a:latin typeface="+mn-lt"/>
                <a:ea typeface="+mn-ea"/>
                <a:cs typeface="+mn-cs"/>
              </a:rPr>
              <a:t>timeseries</a:t>
            </a:r>
            <a:r>
              <a:rPr lang="en-GB" sz="1200" kern="1200" dirty="0" smtClean="0">
                <a:solidFill>
                  <a:schemeClr val="tx1"/>
                </a:solidFill>
                <a:effectLst/>
                <a:latin typeface="+mn-lt"/>
                <a:ea typeface="+mn-ea"/>
                <a:cs typeface="+mn-cs"/>
              </a:rPr>
              <a:t> fails to reject the null hypothesis of the ADF and rejects the null hypothesis of the KPSS by having a p-value lower than 0.5 and a test Statistic higher than the critical values, meaning that the original time series is not stationary. On the other hand, Both the residual of the </a:t>
            </a:r>
            <a:r>
              <a:rPr lang="en-GB" sz="1200" kern="1200" dirty="0" err="1" smtClean="0">
                <a:solidFill>
                  <a:schemeClr val="tx1"/>
                </a:solidFill>
                <a:effectLst/>
                <a:latin typeface="+mn-lt"/>
                <a:ea typeface="+mn-ea"/>
                <a:cs typeface="+mn-cs"/>
              </a:rPr>
              <a:t>seasonal_decompose</a:t>
            </a:r>
            <a:r>
              <a:rPr lang="en-GB" sz="1200" kern="1200" dirty="0" smtClean="0">
                <a:solidFill>
                  <a:schemeClr val="tx1"/>
                </a:solidFill>
                <a:effectLst/>
                <a:latin typeface="+mn-lt"/>
                <a:ea typeface="+mn-ea"/>
                <a:cs typeface="+mn-cs"/>
              </a:rPr>
              <a:t> and the seasonal difference operator have an ADF test statistic lower than the critical value and the p-value extremely small. On the KPSS the null hypothesis was not rejected meaning that both are considered stationary. </a:t>
            </a:r>
            <a:endParaRPr lang="pt-PT" dirty="0"/>
          </a:p>
        </p:txBody>
      </p:sp>
      <p:sp>
        <p:nvSpPr>
          <p:cNvPr id="4" name="Slide Number Placeholder 3"/>
          <p:cNvSpPr>
            <a:spLocks noGrp="1"/>
          </p:cNvSpPr>
          <p:nvPr>
            <p:ph type="sldNum" sz="quarter" idx="10"/>
          </p:nvPr>
        </p:nvSpPr>
        <p:spPr/>
        <p:txBody>
          <a:bodyPr/>
          <a:lstStyle/>
          <a:p>
            <a:fld id="{DEA0821C-5984-4D43-B428-1B32C0F9CF30}" type="slidenum">
              <a:rPr lang="pt-PT" smtClean="0"/>
              <a:t>6</a:t>
            </a:fld>
            <a:endParaRPr lang="pt-PT"/>
          </a:p>
        </p:txBody>
      </p:sp>
    </p:spTree>
    <p:extLst>
      <p:ext uri="{BB962C8B-B14F-4D97-AF65-F5344CB8AC3E}">
        <p14:creationId xmlns:p14="http://schemas.microsoft.com/office/powerpoint/2010/main" val="12183273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smtClean="0">
                <a:solidFill>
                  <a:schemeClr val="tx1"/>
                </a:solidFill>
                <a:effectLst/>
                <a:latin typeface="+mn-lt"/>
                <a:ea typeface="+mn-ea"/>
                <a:cs typeface="+mn-cs"/>
              </a:rPr>
              <a:t>The Forecasting of this time series was done using different methods: The first </a:t>
            </a:r>
            <a:r>
              <a:rPr lang="en-GB" sz="1200" kern="1200" dirty="0" err="1" smtClean="0">
                <a:solidFill>
                  <a:schemeClr val="tx1"/>
                </a:solidFill>
                <a:effectLst/>
                <a:latin typeface="+mn-lt"/>
                <a:ea typeface="+mn-ea"/>
                <a:cs typeface="+mn-cs"/>
              </a:rPr>
              <a:t>onne</a:t>
            </a:r>
            <a:r>
              <a:rPr lang="en-GB" sz="1200" kern="1200" dirty="0" smtClean="0">
                <a:solidFill>
                  <a:schemeClr val="tx1"/>
                </a:solidFill>
                <a:effectLst/>
                <a:latin typeface="+mn-lt"/>
                <a:ea typeface="+mn-ea"/>
                <a:cs typeface="+mn-cs"/>
              </a:rPr>
              <a:t> was using different SARIMA models, the second was using the two variations of Exponential </a:t>
            </a:r>
            <a:r>
              <a:rPr lang="en-GB" sz="1200" kern="1200" dirty="0" err="1" smtClean="0">
                <a:solidFill>
                  <a:schemeClr val="tx1"/>
                </a:solidFill>
                <a:effectLst/>
                <a:latin typeface="+mn-lt"/>
                <a:ea typeface="+mn-ea"/>
                <a:cs typeface="+mn-cs"/>
              </a:rPr>
              <a:t>smoothing:additive</a:t>
            </a:r>
            <a:r>
              <a:rPr lang="en-GB" sz="1200" kern="1200" dirty="0" smtClean="0">
                <a:solidFill>
                  <a:schemeClr val="tx1"/>
                </a:solidFill>
                <a:effectLst/>
                <a:latin typeface="+mn-lt"/>
                <a:ea typeface="+mn-ea"/>
                <a:cs typeface="+mn-cs"/>
              </a:rPr>
              <a:t> and multiplicative. The final was using cross-validation on all the different models and check for differences.</a:t>
            </a:r>
            <a:endParaRPr lang="pt-PT" dirty="0"/>
          </a:p>
        </p:txBody>
      </p:sp>
      <p:sp>
        <p:nvSpPr>
          <p:cNvPr id="4" name="Slide Number Placeholder 3"/>
          <p:cNvSpPr>
            <a:spLocks noGrp="1"/>
          </p:cNvSpPr>
          <p:nvPr>
            <p:ph type="sldNum" sz="quarter" idx="10"/>
          </p:nvPr>
        </p:nvSpPr>
        <p:spPr/>
        <p:txBody>
          <a:bodyPr/>
          <a:lstStyle/>
          <a:p>
            <a:fld id="{DEA0821C-5984-4D43-B428-1B32C0F9CF30}" type="slidenum">
              <a:rPr lang="pt-PT" smtClean="0"/>
              <a:t>7</a:t>
            </a:fld>
            <a:endParaRPr lang="pt-PT"/>
          </a:p>
        </p:txBody>
      </p:sp>
    </p:spTree>
    <p:extLst>
      <p:ext uri="{BB962C8B-B14F-4D97-AF65-F5344CB8AC3E}">
        <p14:creationId xmlns:p14="http://schemas.microsoft.com/office/powerpoint/2010/main" val="29692223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smtClean="0">
                <a:solidFill>
                  <a:schemeClr val="tx1"/>
                </a:solidFill>
                <a:effectLst/>
                <a:latin typeface="+mn-lt"/>
                <a:ea typeface="+mn-ea"/>
                <a:cs typeface="+mn-cs"/>
              </a:rPr>
              <a:t>The first step in the modelling of the data was dividing it into train and test data. I used the data up to 2010 as train and the rest as test. Then I used the residuals of the seasonal difference operator and plotted the ACF and PACF. The ACF showed slight decay and a large spike at lag 12. The PACF showed slight seasonal decay and a spike at lag 2. This made me consider three models (2,0,0)(0,1,1)12,(3,0,0)(0,1,1)12 and  (0,0,2)(0,1,1)12 to consider other options. The last 2 models were calculated using </a:t>
            </a:r>
            <a:r>
              <a:rPr lang="en-GB" sz="1200" kern="1200" dirty="0" err="1" smtClean="0">
                <a:solidFill>
                  <a:schemeClr val="tx1"/>
                </a:solidFill>
                <a:effectLst/>
                <a:latin typeface="+mn-lt"/>
                <a:ea typeface="+mn-ea"/>
                <a:cs typeface="+mn-cs"/>
              </a:rPr>
              <a:t>auto.arima</a:t>
            </a:r>
            <a:r>
              <a:rPr lang="en-GB" sz="1200" kern="1200" dirty="0" smtClean="0">
                <a:solidFill>
                  <a:schemeClr val="tx1"/>
                </a:solidFill>
                <a:effectLst/>
                <a:latin typeface="+mn-lt"/>
                <a:ea typeface="+mn-ea"/>
                <a:cs typeface="+mn-cs"/>
              </a:rPr>
              <a:t>.</a:t>
            </a:r>
            <a:endParaRPr lang="pt-PT" dirty="0"/>
          </a:p>
        </p:txBody>
      </p:sp>
      <p:sp>
        <p:nvSpPr>
          <p:cNvPr id="4" name="Slide Number Placeholder 3"/>
          <p:cNvSpPr>
            <a:spLocks noGrp="1"/>
          </p:cNvSpPr>
          <p:nvPr>
            <p:ph type="sldNum" sz="quarter" idx="10"/>
          </p:nvPr>
        </p:nvSpPr>
        <p:spPr/>
        <p:txBody>
          <a:bodyPr/>
          <a:lstStyle/>
          <a:p>
            <a:fld id="{DEA0821C-5984-4D43-B428-1B32C0F9CF30}" type="slidenum">
              <a:rPr lang="pt-PT" smtClean="0"/>
              <a:t>8</a:t>
            </a:fld>
            <a:endParaRPr lang="pt-PT"/>
          </a:p>
        </p:txBody>
      </p:sp>
    </p:spTree>
    <p:extLst>
      <p:ext uri="{BB962C8B-B14F-4D97-AF65-F5344CB8AC3E}">
        <p14:creationId xmlns:p14="http://schemas.microsoft.com/office/powerpoint/2010/main" val="33749726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smtClean="0">
                <a:solidFill>
                  <a:schemeClr val="tx1"/>
                </a:solidFill>
                <a:effectLst/>
                <a:latin typeface="+mn-lt"/>
                <a:ea typeface="+mn-ea"/>
                <a:cs typeface="+mn-cs"/>
              </a:rPr>
              <a:t>To evaluate these models I compared the AIC and BIC values and calculated the errors. Model 3 had the lowest AIC value and model 5 had the lowest BIC. In terms of the errors table Model 4 had the lowest errors in most of the measures but the results were near identical.</a:t>
            </a:r>
            <a:r>
              <a:rPr lang="en-GB" sz="1200" b="1" kern="1200" dirty="0" smtClean="0">
                <a:solidFill>
                  <a:schemeClr val="tx1"/>
                </a:solidFill>
                <a:effectLst/>
                <a:latin typeface="+mn-lt"/>
                <a:ea typeface="+mn-ea"/>
                <a:cs typeface="+mn-cs"/>
              </a:rPr>
              <a:t> </a:t>
            </a:r>
            <a:endParaRPr lang="pt-PT" dirty="0"/>
          </a:p>
        </p:txBody>
      </p:sp>
      <p:sp>
        <p:nvSpPr>
          <p:cNvPr id="4" name="Slide Number Placeholder 3"/>
          <p:cNvSpPr>
            <a:spLocks noGrp="1"/>
          </p:cNvSpPr>
          <p:nvPr>
            <p:ph type="sldNum" sz="quarter" idx="10"/>
          </p:nvPr>
        </p:nvSpPr>
        <p:spPr/>
        <p:txBody>
          <a:bodyPr/>
          <a:lstStyle/>
          <a:p>
            <a:fld id="{DEA0821C-5984-4D43-B428-1B32C0F9CF30}" type="slidenum">
              <a:rPr lang="pt-PT" smtClean="0"/>
              <a:t>9</a:t>
            </a:fld>
            <a:endParaRPr lang="pt-PT"/>
          </a:p>
        </p:txBody>
      </p:sp>
    </p:spTree>
    <p:extLst>
      <p:ext uri="{BB962C8B-B14F-4D97-AF65-F5344CB8AC3E}">
        <p14:creationId xmlns:p14="http://schemas.microsoft.com/office/powerpoint/2010/main" val="9610426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smtClean="0">
                <a:solidFill>
                  <a:schemeClr val="tx1"/>
                </a:solidFill>
                <a:effectLst/>
                <a:latin typeface="+mn-lt"/>
                <a:ea typeface="+mn-ea"/>
                <a:cs typeface="+mn-cs"/>
              </a:rPr>
              <a:t>Looking at the </a:t>
            </a:r>
            <a:r>
              <a:rPr lang="en-GB" sz="1200" kern="1200" dirty="0" err="1" smtClean="0">
                <a:solidFill>
                  <a:schemeClr val="tx1"/>
                </a:solidFill>
                <a:effectLst/>
                <a:latin typeface="+mn-lt"/>
                <a:ea typeface="+mn-ea"/>
                <a:cs typeface="+mn-cs"/>
              </a:rPr>
              <a:t>diagnostocs</a:t>
            </a:r>
            <a:r>
              <a:rPr lang="en-GB" sz="1200" kern="1200" dirty="0" smtClean="0">
                <a:solidFill>
                  <a:schemeClr val="tx1"/>
                </a:solidFill>
                <a:effectLst/>
                <a:latin typeface="+mn-lt"/>
                <a:ea typeface="+mn-ea"/>
                <a:cs typeface="+mn-cs"/>
              </a:rPr>
              <a:t> of this specific model.</a:t>
            </a:r>
            <a:r>
              <a:rPr lang="en-GB" sz="1200" b="1" kern="1200" dirty="0" smtClean="0">
                <a:solidFill>
                  <a:schemeClr val="tx1"/>
                </a:solidFill>
                <a:effectLst/>
                <a:latin typeface="+mn-lt"/>
                <a:ea typeface="+mn-ea"/>
                <a:cs typeface="+mn-cs"/>
              </a:rPr>
              <a:t> </a:t>
            </a:r>
            <a:r>
              <a:rPr lang="en-GB" sz="1200" kern="1200" dirty="0" smtClean="0">
                <a:solidFill>
                  <a:schemeClr val="tx1"/>
                </a:solidFill>
                <a:effectLst/>
                <a:latin typeface="+mn-lt"/>
                <a:ea typeface="+mn-ea"/>
                <a:cs typeface="+mn-cs"/>
              </a:rPr>
              <a:t> The </a:t>
            </a:r>
            <a:r>
              <a:rPr lang="en-GB" sz="1200" kern="1200" dirty="0" err="1" smtClean="0">
                <a:solidFill>
                  <a:schemeClr val="tx1"/>
                </a:solidFill>
                <a:effectLst/>
                <a:latin typeface="+mn-lt"/>
                <a:ea typeface="+mn-ea"/>
                <a:cs typeface="+mn-cs"/>
              </a:rPr>
              <a:t>qq</a:t>
            </a:r>
            <a:r>
              <a:rPr lang="en-GB" sz="1200" kern="1200" dirty="0" smtClean="0">
                <a:solidFill>
                  <a:schemeClr val="tx1"/>
                </a:solidFill>
                <a:effectLst/>
                <a:latin typeface="+mn-lt"/>
                <a:ea typeface="+mn-ea"/>
                <a:cs typeface="+mn-cs"/>
              </a:rPr>
              <a:t> plot showed that most of the points lied on the straight line and the ACF of the residuals showed that the residuals were uncorrelated by being within the confidence band,</a:t>
            </a:r>
            <a:r>
              <a:rPr lang="en-GB" sz="1200" b="1" kern="1200" dirty="0" smtClean="0">
                <a:solidFill>
                  <a:schemeClr val="tx1"/>
                </a:solidFill>
                <a:effectLst/>
                <a:latin typeface="+mn-lt"/>
                <a:ea typeface="+mn-ea"/>
                <a:cs typeface="+mn-cs"/>
              </a:rPr>
              <a:t> </a:t>
            </a:r>
            <a:r>
              <a:rPr lang="en-GB" sz="1200" kern="1200" dirty="0" smtClean="0">
                <a:solidFill>
                  <a:schemeClr val="tx1"/>
                </a:solidFill>
                <a:effectLst/>
                <a:latin typeface="+mn-lt"/>
                <a:ea typeface="+mn-ea"/>
                <a:cs typeface="+mn-cs"/>
              </a:rPr>
              <a:t>Indicating a good model. The out of point forecasting plot also showed this since the forecast had very similar results to the original.</a:t>
            </a:r>
            <a:r>
              <a:rPr lang="en-GB" sz="1200" b="1" kern="1200" dirty="0" smtClean="0">
                <a:solidFill>
                  <a:schemeClr val="tx1"/>
                </a:solidFill>
                <a:effectLst/>
                <a:latin typeface="+mn-lt"/>
                <a:ea typeface="+mn-ea"/>
                <a:cs typeface="+mn-cs"/>
              </a:rPr>
              <a:t> </a:t>
            </a:r>
            <a:endParaRPr lang="pt-PT" dirty="0"/>
          </a:p>
        </p:txBody>
      </p:sp>
      <p:sp>
        <p:nvSpPr>
          <p:cNvPr id="4" name="Slide Number Placeholder 3"/>
          <p:cNvSpPr>
            <a:spLocks noGrp="1"/>
          </p:cNvSpPr>
          <p:nvPr>
            <p:ph type="sldNum" sz="quarter" idx="10"/>
          </p:nvPr>
        </p:nvSpPr>
        <p:spPr/>
        <p:txBody>
          <a:bodyPr/>
          <a:lstStyle/>
          <a:p>
            <a:fld id="{DEA0821C-5984-4D43-B428-1B32C0F9CF30}" type="slidenum">
              <a:rPr lang="pt-PT" smtClean="0"/>
              <a:t>10</a:t>
            </a:fld>
            <a:endParaRPr lang="pt-PT"/>
          </a:p>
        </p:txBody>
      </p:sp>
    </p:spTree>
    <p:extLst>
      <p:ext uri="{BB962C8B-B14F-4D97-AF65-F5344CB8AC3E}">
        <p14:creationId xmlns:p14="http://schemas.microsoft.com/office/powerpoint/2010/main" val="12380577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smtClean="0">
                <a:solidFill>
                  <a:schemeClr val="tx1"/>
                </a:solidFill>
                <a:effectLst/>
                <a:latin typeface="+mn-lt"/>
                <a:ea typeface="+mn-ea"/>
                <a:cs typeface="+mn-cs"/>
              </a:rPr>
              <a:t>For a time series that contains a trend and seasonality the use of the Holt-Winter method was recommended. This method has two variations: Additive and Multiplicative. The additive method being preferred when the seasonal variations are constant through the series and the multiplicative method being preferred when a time series has seasonality and trend. The errors table showed that the method with the lowest error metrics was the multiplicative. This is not surprising since the decomposition of the time series showed an added trend to the strong seasonality, although the distinction of methods was almost inconsequential. </a:t>
            </a:r>
            <a:endParaRPr lang="pt-PT" dirty="0"/>
          </a:p>
        </p:txBody>
      </p:sp>
      <p:sp>
        <p:nvSpPr>
          <p:cNvPr id="4" name="Slide Number Placeholder 3"/>
          <p:cNvSpPr>
            <a:spLocks noGrp="1"/>
          </p:cNvSpPr>
          <p:nvPr>
            <p:ph type="sldNum" sz="quarter" idx="10"/>
          </p:nvPr>
        </p:nvSpPr>
        <p:spPr/>
        <p:txBody>
          <a:bodyPr/>
          <a:lstStyle/>
          <a:p>
            <a:fld id="{DEA0821C-5984-4D43-B428-1B32C0F9CF30}" type="slidenum">
              <a:rPr lang="pt-PT" smtClean="0"/>
              <a:t>11</a:t>
            </a:fld>
            <a:endParaRPr lang="pt-PT"/>
          </a:p>
        </p:txBody>
      </p:sp>
    </p:spTree>
    <p:extLst>
      <p:ext uri="{BB962C8B-B14F-4D97-AF65-F5344CB8AC3E}">
        <p14:creationId xmlns:p14="http://schemas.microsoft.com/office/powerpoint/2010/main" val="7723832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kern="1200" dirty="0" smtClean="0">
                <a:solidFill>
                  <a:schemeClr val="tx1"/>
                </a:solidFill>
                <a:effectLst/>
                <a:latin typeface="+mn-lt"/>
                <a:ea typeface="+mn-ea"/>
                <a:cs typeface="+mn-cs"/>
              </a:rPr>
              <a:t>The out of point forecasting shows a lightly more accurate plot than the ones made with the SARIMA models this was also seen in the error table that showed slightly lower values.</a:t>
            </a:r>
            <a:endParaRPr lang="pt-PT" sz="1200" kern="1200" dirty="0" smtClean="0">
              <a:solidFill>
                <a:schemeClr val="tx1"/>
              </a:solidFill>
              <a:effectLst/>
              <a:latin typeface="+mn-lt"/>
              <a:ea typeface="+mn-ea"/>
              <a:cs typeface="+mn-cs"/>
            </a:endParaRPr>
          </a:p>
          <a:p>
            <a:endParaRPr lang="pt-PT" dirty="0"/>
          </a:p>
        </p:txBody>
      </p:sp>
      <p:sp>
        <p:nvSpPr>
          <p:cNvPr id="4" name="Slide Number Placeholder 3"/>
          <p:cNvSpPr>
            <a:spLocks noGrp="1"/>
          </p:cNvSpPr>
          <p:nvPr>
            <p:ph type="sldNum" sz="quarter" idx="10"/>
          </p:nvPr>
        </p:nvSpPr>
        <p:spPr/>
        <p:txBody>
          <a:bodyPr/>
          <a:lstStyle/>
          <a:p>
            <a:fld id="{DEA0821C-5984-4D43-B428-1B32C0F9CF30}" type="slidenum">
              <a:rPr lang="pt-PT" smtClean="0"/>
              <a:t>12</a:t>
            </a:fld>
            <a:endParaRPr lang="pt-PT"/>
          </a:p>
        </p:txBody>
      </p:sp>
    </p:spTree>
    <p:extLst>
      <p:ext uri="{BB962C8B-B14F-4D97-AF65-F5344CB8AC3E}">
        <p14:creationId xmlns:p14="http://schemas.microsoft.com/office/powerpoint/2010/main" val="34863108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smtClean="0">
                <a:solidFill>
                  <a:schemeClr val="tx1"/>
                </a:solidFill>
                <a:effectLst/>
                <a:latin typeface="+mn-lt"/>
                <a:ea typeface="+mn-ea"/>
                <a:cs typeface="+mn-cs"/>
              </a:rPr>
              <a:t>Finally, a cross-validation to the time series was done to all the models. This was done with the purpose of creating a more robust model and to prevent overfitting. The model with lowest MSE was SARIMA model (0,0,10)(0,1,3)12, although all the CV instances had similar results with the difference being minimal</a:t>
            </a:r>
            <a:endParaRPr lang="pt-PT" dirty="0"/>
          </a:p>
        </p:txBody>
      </p:sp>
      <p:sp>
        <p:nvSpPr>
          <p:cNvPr id="4" name="Slide Number Placeholder 3"/>
          <p:cNvSpPr>
            <a:spLocks noGrp="1"/>
          </p:cNvSpPr>
          <p:nvPr>
            <p:ph type="sldNum" sz="quarter" idx="10"/>
          </p:nvPr>
        </p:nvSpPr>
        <p:spPr/>
        <p:txBody>
          <a:bodyPr/>
          <a:lstStyle/>
          <a:p>
            <a:fld id="{DEA0821C-5984-4D43-B428-1B32C0F9CF30}" type="slidenum">
              <a:rPr lang="pt-PT" smtClean="0"/>
              <a:t>13</a:t>
            </a:fld>
            <a:endParaRPr lang="pt-PT"/>
          </a:p>
        </p:txBody>
      </p:sp>
    </p:spTree>
    <p:extLst>
      <p:ext uri="{BB962C8B-B14F-4D97-AF65-F5344CB8AC3E}">
        <p14:creationId xmlns:p14="http://schemas.microsoft.com/office/powerpoint/2010/main" val="22868177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kern="1200" dirty="0" smtClean="0">
                <a:solidFill>
                  <a:schemeClr val="tx1"/>
                </a:solidFill>
                <a:effectLst/>
                <a:latin typeface="+mn-lt"/>
                <a:ea typeface="+mn-ea"/>
                <a:cs typeface="+mn-cs"/>
              </a:rPr>
              <a:t>This is the forecasting plot of the </a:t>
            </a:r>
            <a:r>
              <a:rPr lang="en-GB" sz="1200" kern="1200" dirty="0" err="1" smtClean="0">
                <a:solidFill>
                  <a:schemeClr val="tx1"/>
                </a:solidFill>
                <a:effectLst/>
                <a:latin typeface="+mn-lt"/>
                <a:ea typeface="+mn-ea"/>
                <a:cs typeface="+mn-cs"/>
              </a:rPr>
              <a:t>sarima</a:t>
            </a:r>
            <a:r>
              <a:rPr lang="en-GB" sz="1200" kern="1200" dirty="0" smtClean="0">
                <a:solidFill>
                  <a:schemeClr val="tx1"/>
                </a:solidFill>
                <a:effectLst/>
                <a:latin typeface="+mn-lt"/>
                <a:ea typeface="+mn-ea"/>
                <a:cs typeface="+mn-cs"/>
              </a:rPr>
              <a:t> model that was previously shown.</a:t>
            </a:r>
            <a:endParaRPr lang="pt-PT" sz="1200" kern="1200" dirty="0" smtClean="0">
              <a:solidFill>
                <a:schemeClr val="tx1"/>
              </a:solidFill>
              <a:effectLst/>
              <a:latin typeface="+mn-lt"/>
              <a:ea typeface="+mn-ea"/>
              <a:cs typeface="+mn-cs"/>
            </a:endParaRPr>
          </a:p>
          <a:p>
            <a:endParaRPr lang="pt-PT" dirty="0"/>
          </a:p>
        </p:txBody>
      </p:sp>
      <p:sp>
        <p:nvSpPr>
          <p:cNvPr id="4" name="Slide Number Placeholder 3"/>
          <p:cNvSpPr>
            <a:spLocks noGrp="1"/>
          </p:cNvSpPr>
          <p:nvPr>
            <p:ph type="sldNum" sz="quarter" idx="10"/>
          </p:nvPr>
        </p:nvSpPr>
        <p:spPr/>
        <p:txBody>
          <a:bodyPr/>
          <a:lstStyle/>
          <a:p>
            <a:fld id="{DEA0821C-5984-4D43-B428-1B32C0F9CF30}" type="slidenum">
              <a:rPr lang="pt-PT" smtClean="0"/>
              <a:t>14</a:t>
            </a:fld>
            <a:endParaRPr lang="pt-PT"/>
          </a:p>
        </p:txBody>
      </p:sp>
    </p:spTree>
    <p:extLst>
      <p:ext uri="{BB962C8B-B14F-4D97-AF65-F5344CB8AC3E}">
        <p14:creationId xmlns:p14="http://schemas.microsoft.com/office/powerpoint/2010/main" val="26460717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kern="1200" dirty="0" smtClean="0">
                <a:solidFill>
                  <a:schemeClr val="tx1"/>
                </a:solidFill>
                <a:effectLst/>
                <a:latin typeface="+mn-lt"/>
                <a:ea typeface="+mn-ea"/>
                <a:cs typeface="+mn-cs"/>
              </a:rPr>
              <a:t>In conclusion, the EDA showed strong yearly seasonality and a slight upward trend, the forecasting methods utilized showed similar results, which after evaluating each model the results showed high accuracy with low error values. The exponential smoothing forecasting showed slightly smaller MSE values than the SARIMA models, with the best performing model using the multiplicative method. CV gave contradictory results since although the Cross-validation of the SARIMA models gave slightly lower errors, the CV in exponential smoothing had no affect or in the more specific case of multiplicative ES gave higher errors. </a:t>
            </a:r>
            <a:endParaRPr lang="pt-PT" sz="1200" kern="1200" dirty="0" smtClean="0">
              <a:solidFill>
                <a:schemeClr val="tx1"/>
              </a:solidFill>
              <a:effectLst/>
              <a:latin typeface="+mn-lt"/>
              <a:ea typeface="+mn-ea"/>
              <a:cs typeface="+mn-cs"/>
            </a:endParaRPr>
          </a:p>
          <a:p>
            <a:endParaRPr lang="pt-PT" dirty="0"/>
          </a:p>
        </p:txBody>
      </p:sp>
      <p:sp>
        <p:nvSpPr>
          <p:cNvPr id="4" name="Slide Number Placeholder 3"/>
          <p:cNvSpPr>
            <a:spLocks noGrp="1"/>
          </p:cNvSpPr>
          <p:nvPr>
            <p:ph type="sldNum" sz="quarter" idx="10"/>
          </p:nvPr>
        </p:nvSpPr>
        <p:spPr/>
        <p:txBody>
          <a:bodyPr/>
          <a:lstStyle/>
          <a:p>
            <a:fld id="{DEA0821C-5984-4D43-B428-1B32C0F9CF30}" type="slidenum">
              <a:rPr lang="pt-PT" smtClean="0"/>
              <a:t>15</a:t>
            </a:fld>
            <a:endParaRPr lang="pt-PT"/>
          </a:p>
        </p:txBody>
      </p:sp>
    </p:spTree>
    <p:extLst>
      <p:ext uri="{BB962C8B-B14F-4D97-AF65-F5344CB8AC3E}">
        <p14:creationId xmlns:p14="http://schemas.microsoft.com/office/powerpoint/2010/main" val="8418121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337E7BF2-CAB4-4C84-A812-12FBA8782820}" type="datetimeFigureOut">
              <a:rPr lang="pt-PT" smtClean="0"/>
              <a:t>01/02/2024</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218507F8-1754-4489-91DA-E368BFBD1177}" type="slidenum">
              <a:rPr lang="pt-PT" smtClean="0"/>
              <a:t>‹#›</a:t>
            </a:fld>
            <a:endParaRPr lang="pt-PT"/>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5985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37E7BF2-CAB4-4C84-A812-12FBA8782820}" type="datetimeFigureOut">
              <a:rPr lang="pt-PT" smtClean="0"/>
              <a:t>01/02/2024</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218507F8-1754-4489-91DA-E368BFBD1177}" type="slidenum">
              <a:rPr lang="pt-PT" smtClean="0"/>
              <a:t>‹#›</a:t>
            </a:fld>
            <a:endParaRPr lang="pt-PT"/>
          </a:p>
        </p:txBody>
      </p:sp>
    </p:spTree>
    <p:extLst>
      <p:ext uri="{BB962C8B-B14F-4D97-AF65-F5344CB8AC3E}">
        <p14:creationId xmlns:p14="http://schemas.microsoft.com/office/powerpoint/2010/main" val="35103313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37E7BF2-CAB4-4C84-A812-12FBA8782820}" type="datetimeFigureOut">
              <a:rPr lang="pt-PT" smtClean="0"/>
              <a:t>01/02/2024</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218507F8-1754-4489-91DA-E368BFBD1177}" type="slidenum">
              <a:rPr lang="pt-PT" smtClean="0"/>
              <a:t>‹#›</a:t>
            </a:fld>
            <a:endParaRPr lang="pt-PT"/>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0098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37E7BF2-CAB4-4C84-A812-12FBA8782820}" type="datetimeFigureOut">
              <a:rPr lang="pt-PT" smtClean="0"/>
              <a:t>01/02/2024</a:t>
            </a:fld>
            <a:endParaRPr lang="pt-PT"/>
          </a:p>
        </p:txBody>
      </p:sp>
      <p:sp>
        <p:nvSpPr>
          <p:cNvPr id="6" name="Footer Placeholder 5"/>
          <p:cNvSpPr>
            <a:spLocks noGrp="1"/>
          </p:cNvSpPr>
          <p:nvPr>
            <p:ph type="ftr" sz="quarter" idx="11"/>
          </p:nvPr>
        </p:nvSpPr>
        <p:spPr/>
        <p:txBody>
          <a:bodyPr/>
          <a:lstStyle/>
          <a:p>
            <a:endParaRPr lang="pt-PT"/>
          </a:p>
        </p:txBody>
      </p:sp>
      <p:sp>
        <p:nvSpPr>
          <p:cNvPr id="7" name="Slide Number Placeholder 6"/>
          <p:cNvSpPr>
            <a:spLocks noGrp="1"/>
          </p:cNvSpPr>
          <p:nvPr>
            <p:ph type="sldNum" sz="quarter" idx="12"/>
          </p:nvPr>
        </p:nvSpPr>
        <p:spPr/>
        <p:txBody>
          <a:bodyPr/>
          <a:lstStyle/>
          <a:p>
            <a:fld id="{218507F8-1754-4489-91DA-E368BFBD1177}" type="slidenum">
              <a:rPr lang="pt-PT" smtClean="0"/>
              <a:t>‹#›</a:t>
            </a:fld>
            <a:endParaRPr lang="pt-PT"/>
          </a:p>
        </p:txBody>
      </p:sp>
    </p:spTree>
    <p:extLst>
      <p:ext uri="{BB962C8B-B14F-4D97-AF65-F5344CB8AC3E}">
        <p14:creationId xmlns:p14="http://schemas.microsoft.com/office/powerpoint/2010/main" val="429057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37E7BF2-CAB4-4C84-A812-12FBA8782820}" type="datetimeFigureOut">
              <a:rPr lang="pt-PT" smtClean="0"/>
              <a:t>01/02/2024</a:t>
            </a:fld>
            <a:endParaRPr lang="pt-PT"/>
          </a:p>
        </p:txBody>
      </p:sp>
      <p:sp>
        <p:nvSpPr>
          <p:cNvPr id="8" name="Footer Placeholder 7"/>
          <p:cNvSpPr>
            <a:spLocks noGrp="1"/>
          </p:cNvSpPr>
          <p:nvPr>
            <p:ph type="ftr" sz="quarter" idx="11"/>
          </p:nvPr>
        </p:nvSpPr>
        <p:spPr/>
        <p:txBody>
          <a:bodyPr/>
          <a:lstStyle/>
          <a:p>
            <a:endParaRPr lang="pt-PT"/>
          </a:p>
        </p:txBody>
      </p:sp>
      <p:sp>
        <p:nvSpPr>
          <p:cNvPr id="9" name="Slide Number Placeholder 8"/>
          <p:cNvSpPr>
            <a:spLocks noGrp="1"/>
          </p:cNvSpPr>
          <p:nvPr>
            <p:ph type="sldNum" sz="quarter" idx="12"/>
          </p:nvPr>
        </p:nvSpPr>
        <p:spPr/>
        <p:txBody>
          <a:bodyPr/>
          <a:lstStyle/>
          <a:p>
            <a:fld id="{218507F8-1754-4489-91DA-E368BFBD1177}" type="slidenum">
              <a:rPr lang="pt-PT" smtClean="0"/>
              <a:t>‹#›</a:t>
            </a:fld>
            <a:endParaRPr lang="pt-PT"/>
          </a:p>
        </p:txBody>
      </p:sp>
    </p:spTree>
    <p:extLst>
      <p:ext uri="{BB962C8B-B14F-4D97-AF65-F5344CB8AC3E}">
        <p14:creationId xmlns:p14="http://schemas.microsoft.com/office/powerpoint/2010/main" val="3343936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37E7BF2-CAB4-4C84-A812-12FBA8782820}" type="datetimeFigureOut">
              <a:rPr lang="pt-PT" smtClean="0"/>
              <a:t>01/02/2024</a:t>
            </a:fld>
            <a:endParaRPr lang="pt-PT"/>
          </a:p>
        </p:txBody>
      </p:sp>
      <p:sp>
        <p:nvSpPr>
          <p:cNvPr id="4" name="Footer Placeholder 3"/>
          <p:cNvSpPr>
            <a:spLocks noGrp="1"/>
          </p:cNvSpPr>
          <p:nvPr>
            <p:ph type="ftr" sz="quarter" idx="11"/>
          </p:nvPr>
        </p:nvSpPr>
        <p:spPr/>
        <p:txBody>
          <a:bodyPr/>
          <a:lstStyle/>
          <a:p>
            <a:endParaRPr lang="pt-PT"/>
          </a:p>
        </p:txBody>
      </p:sp>
      <p:sp>
        <p:nvSpPr>
          <p:cNvPr id="5" name="Slide Number Placeholder 4"/>
          <p:cNvSpPr>
            <a:spLocks noGrp="1"/>
          </p:cNvSpPr>
          <p:nvPr>
            <p:ph type="sldNum" sz="quarter" idx="12"/>
          </p:nvPr>
        </p:nvSpPr>
        <p:spPr/>
        <p:txBody>
          <a:bodyPr/>
          <a:lstStyle/>
          <a:p>
            <a:fld id="{218507F8-1754-4489-91DA-E368BFBD1177}" type="slidenum">
              <a:rPr lang="pt-PT" smtClean="0"/>
              <a:t>‹#›</a:t>
            </a:fld>
            <a:endParaRPr lang="pt-PT"/>
          </a:p>
        </p:txBody>
      </p:sp>
    </p:spTree>
    <p:extLst>
      <p:ext uri="{BB962C8B-B14F-4D97-AF65-F5344CB8AC3E}">
        <p14:creationId xmlns:p14="http://schemas.microsoft.com/office/powerpoint/2010/main" val="288236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37E7BF2-CAB4-4C84-A812-12FBA8782820}" type="datetimeFigureOut">
              <a:rPr lang="pt-PT" smtClean="0"/>
              <a:t>01/02/2024</a:t>
            </a:fld>
            <a:endParaRPr lang="pt-PT"/>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pt-PT"/>
          </a:p>
        </p:txBody>
      </p:sp>
      <p:sp>
        <p:nvSpPr>
          <p:cNvPr id="9" name="Slide Number Placeholder 8"/>
          <p:cNvSpPr>
            <a:spLocks noGrp="1"/>
          </p:cNvSpPr>
          <p:nvPr>
            <p:ph type="sldNum" sz="quarter" idx="12"/>
          </p:nvPr>
        </p:nvSpPr>
        <p:spPr/>
        <p:txBody>
          <a:bodyPr/>
          <a:lstStyle/>
          <a:p>
            <a:fld id="{218507F8-1754-4489-91DA-E368BFBD1177}" type="slidenum">
              <a:rPr lang="pt-PT" smtClean="0"/>
              <a:t>‹#›</a:t>
            </a:fld>
            <a:endParaRPr lang="pt-PT"/>
          </a:p>
        </p:txBody>
      </p:sp>
    </p:spTree>
    <p:extLst>
      <p:ext uri="{BB962C8B-B14F-4D97-AF65-F5344CB8AC3E}">
        <p14:creationId xmlns:p14="http://schemas.microsoft.com/office/powerpoint/2010/main" val="768083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37E7BF2-CAB4-4C84-A812-12FBA8782820}" type="datetimeFigureOut">
              <a:rPr lang="pt-PT" smtClean="0"/>
              <a:t>01/02/2024</a:t>
            </a:fld>
            <a:endParaRPr lang="pt-PT"/>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pt-PT"/>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18507F8-1754-4489-91DA-E368BFBD1177}" type="slidenum">
              <a:rPr lang="pt-PT" smtClean="0"/>
              <a:t>‹#›</a:t>
            </a:fld>
            <a:endParaRPr lang="pt-PT"/>
          </a:p>
        </p:txBody>
      </p:sp>
    </p:spTree>
    <p:extLst>
      <p:ext uri="{BB962C8B-B14F-4D97-AF65-F5344CB8AC3E}">
        <p14:creationId xmlns:p14="http://schemas.microsoft.com/office/powerpoint/2010/main" val="1436790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37E7BF2-CAB4-4C84-A812-12FBA8782820}" type="datetimeFigureOut">
              <a:rPr lang="pt-PT" smtClean="0"/>
              <a:t>01/02/2024</a:t>
            </a:fld>
            <a:endParaRPr lang="pt-PT"/>
          </a:p>
        </p:txBody>
      </p:sp>
      <p:sp>
        <p:nvSpPr>
          <p:cNvPr id="6" name="Footer Placeholder 5"/>
          <p:cNvSpPr>
            <a:spLocks noGrp="1"/>
          </p:cNvSpPr>
          <p:nvPr>
            <p:ph type="ftr" sz="quarter" idx="11"/>
          </p:nvPr>
        </p:nvSpPr>
        <p:spPr/>
        <p:txBody>
          <a:bodyPr/>
          <a:lstStyle/>
          <a:p>
            <a:endParaRPr lang="pt-PT"/>
          </a:p>
        </p:txBody>
      </p:sp>
      <p:sp>
        <p:nvSpPr>
          <p:cNvPr id="7" name="Slide Number Placeholder 6"/>
          <p:cNvSpPr>
            <a:spLocks noGrp="1"/>
          </p:cNvSpPr>
          <p:nvPr>
            <p:ph type="sldNum" sz="quarter" idx="12"/>
          </p:nvPr>
        </p:nvSpPr>
        <p:spPr/>
        <p:txBody>
          <a:bodyPr/>
          <a:lstStyle/>
          <a:p>
            <a:fld id="{218507F8-1754-4489-91DA-E368BFBD1177}" type="slidenum">
              <a:rPr lang="pt-PT" smtClean="0"/>
              <a:t>‹#›</a:t>
            </a:fld>
            <a:endParaRPr lang="pt-PT"/>
          </a:p>
        </p:txBody>
      </p:sp>
    </p:spTree>
    <p:extLst>
      <p:ext uri="{BB962C8B-B14F-4D97-AF65-F5344CB8AC3E}">
        <p14:creationId xmlns:p14="http://schemas.microsoft.com/office/powerpoint/2010/main" val="3906686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37E7BF2-CAB4-4C84-A812-12FBA8782820}" type="datetimeFigureOut">
              <a:rPr lang="pt-PT" smtClean="0"/>
              <a:t>01/02/2024</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218507F8-1754-4489-91DA-E368BFBD1177}" type="slidenum">
              <a:rPr lang="pt-PT" smtClean="0"/>
              <a:t>‹#›</a:t>
            </a:fld>
            <a:endParaRPr lang="pt-PT"/>
          </a:p>
        </p:txBody>
      </p:sp>
    </p:spTree>
    <p:extLst>
      <p:ext uri="{BB962C8B-B14F-4D97-AF65-F5344CB8AC3E}">
        <p14:creationId xmlns:p14="http://schemas.microsoft.com/office/powerpoint/2010/main" val="2585845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37E7BF2-CAB4-4C84-A812-12FBA8782820}" type="datetimeFigureOut">
              <a:rPr lang="pt-PT" smtClean="0"/>
              <a:t>01/02/2024</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218507F8-1754-4489-91DA-E368BFBD1177}" type="slidenum">
              <a:rPr lang="pt-PT" smtClean="0"/>
              <a:t>‹#›</a:t>
            </a:fld>
            <a:endParaRPr lang="pt-PT"/>
          </a:p>
        </p:txBody>
      </p:sp>
    </p:spTree>
    <p:extLst>
      <p:ext uri="{BB962C8B-B14F-4D97-AF65-F5344CB8AC3E}">
        <p14:creationId xmlns:p14="http://schemas.microsoft.com/office/powerpoint/2010/main" val="1486812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337E7BF2-CAB4-4C84-A812-12FBA8782820}" type="datetimeFigureOut">
              <a:rPr lang="pt-PT" smtClean="0"/>
              <a:t>01/02/2024</a:t>
            </a:fld>
            <a:endParaRPr lang="pt-PT"/>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pt-PT"/>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18507F8-1754-4489-91DA-E368BFBD1177}" type="slidenum">
              <a:rPr lang="pt-PT" smtClean="0"/>
              <a:t>‹#›</a:t>
            </a:fld>
            <a:endParaRPr lang="pt-PT"/>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933284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0.tmp"/><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tmp"/><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tmp"/></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6.tmp"/></Relationships>
</file>

<file path=ppt/slides/_rels/slide11.xml.rels><?xml version="1.0" encoding="UTF-8" standalone="yes"?>
<Relationships xmlns="http://schemas.openxmlformats.org/package/2006/relationships"><Relationship Id="rId3" Type="http://schemas.openxmlformats.org/officeDocument/2006/relationships/image" Target="../media/image17.tmp"/><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9.tmp"/></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1.tmp"/></Relationships>
</file>

<file path=ppt/slides/_rels/slide14.xml.rels><?xml version="1.0" encoding="UTF-8" standalone="yes"?>
<Relationships xmlns="http://schemas.openxmlformats.org/package/2006/relationships"><Relationship Id="rId3" Type="http://schemas.openxmlformats.org/officeDocument/2006/relationships/image" Target="../media/image22.tmp"/><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75765" y="1190781"/>
            <a:ext cx="10312997" cy="3566160"/>
          </a:xfrm>
          <a:solidFill>
            <a:schemeClr val="bg1"/>
          </a:solidFill>
        </p:spPr>
        <p:txBody>
          <a:bodyPr>
            <a:normAutofit/>
          </a:bodyPr>
          <a:lstStyle/>
          <a:p>
            <a:pPr algn="ctr"/>
            <a:r>
              <a:rPr lang="en-GB" sz="6000" dirty="0"/>
              <a:t>Analysis and forecast of the Earth Surface temperature </a:t>
            </a:r>
            <a:r>
              <a:rPr lang="pt-PT" dirty="0"/>
              <a:t/>
            </a:r>
            <a:br>
              <a:rPr lang="pt-PT" dirty="0"/>
            </a:br>
            <a:endParaRPr lang="pt-PT" dirty="0"/>
          </a:p>
        </p:txBody>
      </p:sp>
      <p:sp>
        <p:nvSpPr>
          <p:cNvPr id="3" name="Subtitle 2"/>
          <p:cNvSpPr>
            <a:spLocks noGrp="1"/>
          </p:cNvSpPr>
          <p:nvPr>
            <p:ph type="subTitle" idx="1"/>
          </p:nvPr>
        </p:nvSpPr>
        <p:spPr>
          <a:xfrm>
            <a:off x="983510" y="4185441"/>
            <a:ext cx="10058400" cy="1143000"/>
          </a:xfrm>
        </p:spPr>
        <p:txBody>
          <a:bodyPr>
            <a:normAutofit fontScale="85000" lnSpcReduction="20000"/>
          </a:bodyPr>
          <a:lstStyle/>
          <a:p>
            <a:pPr algn="ctr"/>
            <a:r>
              <a:rPr lang="pt-PT" dirty="0" smtClean="0"/>
              <a:t>Time series and forecasting</a:t>
            </a:r>
          </a:p>
          <a:p>
            <a:pPr algn="ctr"/>
            <a:r>
              <a:rPr lang="pt-PT" dirty="0" smtClean="0"/>
              <a:t>José pedro gama de sousa rodigues</a:t>
            </a:r>
          </a:p>
          <a:p>
            <a:pPr algn="ctr"/>
            <a:r>
              <a:rPr lang="pt-PT" dirty="0" smtClean="0"/>
              <a:t>202006455</a:t>
            </a:r>
            <a:endParaRPr lang="pt-PT" dirty="0"/>
          </a:p>
        </p:txBody>
      </p:sp>
      <p:pic>
        <p:nvPicPr>
          <p:cNvPr id="4" name="Picture 3"/>
          <p:cNvPicPr/>
          <p:nvPr/>
        </p:nvPicPr>
        <p:blipFill>
          <a:blip r:embed="rId3">
            <a:extLst>
              <a:ext uri="{28A0092B-C50C-407E-A947-70E740481C1C}">
                <a14:useLocalDpi xmlns:a14="http://schemas.microsoft.com/office/drawing/2010/main" val="0"/>
              </a:ext>
            </a:extLst>
          </a:blip>
          <a:stretch>
            <a:fillRect/>
          </a:stretch>
        </p:blipFill>
        <p:spPr>
          <a:xfrm>
            <a:off x="338306" y="261807"/>
            <a:ext cx="2781412" cy="1127722"/>
          </a:xfrm>
          <a:prstGeom prst="rect">
            <a:avLst/>
          </a:prstGeom>
        </p:spPr>
      </p:pic>
    </p:spTree>
    <p:extLst>
      <p:ext uri="{BB962C8B-B14F-4D97-AF65-F5344CB8AC3E}">
        <p14:creationId xmlns:p14="http://schemas.microsoft.com/office/powerpoint/2010/main" val="239301923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pt-PT" dirty="0" smtClean="0"/>
              <a:t>Pre-Analysis</a:t>
            </a:r>
            <a:endParaRPr lang="pt-PT" dirty="0"/>
          </a:p>
        </p:txBody>
      </p:sp>
      <p:sp>
        <p:nvSpPr>
          <p:cNvPr id="3" name="Content Placeholder 2"/>
          <p:cNvSpPr>
            <a:spLocks noGrp="1"/>
          </p:cNvSpPr>
          <p:nvPr>
            <p:ph idx="1"/>
          </p:nvPr>
        </p:nvSpPr>
        <p:spPr>
          <a:xfrm>
            <a:off x="1097280" y="2052918"/>
            <a:ext cx="10058400" cy="3816176"/>
          </a:xfrm>
          <a:noFill/>
        </p:spPr>
        <p:txBody>
          <a:bodyPr/>
          <a:lstStyle/>
          <a:p>
            <a:pPr>
              <a:buFont typeface="Wingdings" panose="05000000000000000000" pitchFamily="2" charset="2"/>
              <a:buChar char="Ø"/>
            </a:pPr>
            <a:r>
              <a:rPr lang="pt-PT" dirty="0" smtClean="0"/>
              <a:t> </a:t>
            </a:r>
            <a:r>
              <a:rPr lang="pt-PT" dirty="0" smtClean="0">
                <a:latin typeface="+mj-lt"/>
              </a:rPr>
              <a:t>CSV: </a:t>
            </a:r>
            <a:r>
              <a:rPr lang="en-GB" dirty="0" smtClean="0">
                <a:latin typeface="+mj-lt"/>
              </a:rPr>
              <a:t>“GlobalTemperatures.csv” </a:t>
            </a:r>
          </a:p>
          <a:p>
            <a:pPr>
              <a:buFont typeface="Wingdings" panose="05000000000000000000" pitchFamily="2" charset="2"/>
              <a:buChar char="Ø"/>
            </a:pPr>
            <a:r>
              <a:rPr lang="en-GB" dirty="0" smtClean="0">
                <a:latin typeface="+mj-lt"/>
              </a:rPr>
              <a:t> Python with </a:t>
            </a:r>
            <a:r>
              <a:rPr lang="en-GB" dirty="0" err="1" smtClean="0">
                <a:latin typeface="+mj-lt"/>
              </a:rPr>
              <a:t>jupyter</a:t>
            </a:r>
            <a:r>
              <a:rPr lang="en-GB" dirty="0" smtClean="0">
                <a:latin typeface="+mj-lt"/>
              </a:rPr>
              <a:t> Notebook as IDE</a:t>
            </a:r>
          </a:p>
          <a:p>
            <a:pPr>
              <a:buFont typeface="Wingdings" panose="05000000000000000000" pitchFamily="2" charset="2"/>
              <a:buChar char="Ø"/>
            </a:pPr>
            <a:r>
              <a:rPr lang="en-GB" dirty="0" smtClean="0">
                <a:latin typeface="+mj-lt"/>
              </a:rPr>
              <a:t> Pandas, </a:t>
            </a:r>
            <a:r>
              <a:rPr lang="en-GB" dirty="0" err="1" smtClean="0">
                <a:latin typeface="+mj-lt"/>
              </a:rPr>
              <a:t>Numpy</a:t>
            </a:r>
            <a:r>
              <a:rPr lang="en-GB" dirty="0" smtClean="0">
                <a:latin typeface="+mj-lt"/>
              </a:rPr>
              <a:t>, </a:t>
            </a:r>
            <a:r>
              <a:rPr lang="en-GB" dirty="0" err="1" smtClean="0">
                <a:latin typeface="+mj-lt"/>
              </a:rPr>
              <a:t>Matplot</a:t>
            </a:r>
            <a:r>
              <a:rPr lang="en-GB" dirty="0" smtClean="0">
                <a:latin typeface="+mj-lt"/>
              </a:rPr>
              <a:t>, </a:t>
            </a:r>
            <a:r>
              <a:rPr lang="en-GB" dirty="0" err="1" smtClean="0">
                <a:latin typeface="+mj-lt"/>
              </a:rPr>
              <a:t>Seaborn</a:t>
            </a:r>
            <a:r>
              <a:rPr lang="en-GB" dirty="0" smtClean="0">
                <a:latin typeface="+mj-lt"/>
              </a:rPr>
              <a:t>, </a:t>
            </a:r>
            <a:r>
              <a:rPr lang="en-GB" dirty="0" err="1" smtClean="0">
                <a:latin typeface="+mj-lt"/>
              </a:rPr>
              <a:t>Statsmodels</a:t>
            </a:r>
            <a:r>
              <a:rPr lang="en-GB" dirty="0" smtClean="0">
                <a:latin typeface="+mj-lt"/>
              </a:rPr>
              <a:t> and </a:t>
            </a:r>
            <a:r>
              <a:rPr lang="en-GB" dirty="0" err="1" smtClean="0">
                <a:latin typeface="+mj-lt"/>
              </a:rPr>
              <a:t>Sklearn</a:t>
            </a:r>
            <a:endParaRPr lang="en-GB" dirty="0" smtClean="0">
              <a:latin typeface="+mj-lt"/>
            </a:endParaRPr>
          </a:p>
          <a:p>
            <a:pPr marL="0" indent="0">
              <a:buNone/>
            </a:pPr>
            <a:r>
              <a:rPr lang="en-GB" sz="2400" b="1" dirty="0" smtClean="0">
                <a:latin typeface="+mj-lt"/>
              </a:rPr>
              <a:t>Pre-processing of Data</a:t>
            </a:r>
          </a:p>
          <a:p>
            <a:pPr>
              <a:buFont typeface="Wingdings" panose="05000000000000000000" pitchFamily="2" charset="2"/>
              <a:buChar char="Ø"/>
            </a:pPr>
            <a:r>
              <a:rPr lang="en-GB" dirty="0" smtClean="0">
                <a:latin typeface="+mj-lt"/>
              </a:rPr>
              <a:t> Handling Missing Values</a:t>
            </a:r>
          </a:p>
          <a:p>
            <a:pPr>
              <a:buFont typeface="Wingdings" panose="05000000000000000000" pitchFamily="2" charset="2"/>
              <a:buChar char="Ø"/>
            </a:pPr>
            <a:r>
              <a:rPr lang="en-GB" dirty="0" smtClean="0">
                <a:latin typeface="+mj-lt"/>
              </a:rPr>
              <a:t> Drop redundant columns</a:t>
            </a:r>
          </a:p>
          <a:p>
            <a:pPr>
              <a:buFont typeface="Wingdings" panose="05000000000000000000" pitchFamily="2" charset="2"/>
              <a:buChar char="Ø"/>
            </a:pPr>
            <a:r>
              <a:rPr lang="en-GB" dirty="0" smtClean="0">
                <a:latin typeface="+mj-lt"/>
              </a:rPr>
              <a:t> Drop uncertain rows </a:t>
            </a:r>
          </a:p>
          <a:p>
            <a:pPr marL="0" indent="0">
              <a:buNone/>
            </a:pPr>
            <a:endParaRPr lang="pt-PT" dirty="0" smtClean="0"/>
          </a:p>
        </p:txBody>
      </p:sp>
      <p:sp>
        <p:nvSpPr>
          <p:cNvPr id="4" name="AutoShape 2" descr="upload.wikimedia.org/wikipedia/commons/thumb/c/c3/..."/>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PT"/>
          </a:p>
        </p:txBody>
      </p:sp>
      <p:pic>
        <p:nvPicPr>
          <p:cNvPr id="5" name="Picture 4"/>
          <p:cNvPicPr>
            <a:picLocks noChangeAspect="1"/>
          </p:cNvPicPr>
          <p:nvPr/>
        </p:nvPicPr>
        <p:blipFill>
          <a:blip r:embed="rId3"/>
          <a:stretch>
            <a:fillRect/>
          </a:stretch>
        </p:blipFill>
        <p:spPr>
          <a:xfrm>
            <a:off x="8047275" y="1870836"/>
            <a:ext cx="2776684" cy="1203890"/>
          </a:xfrm>
          <a:prstGeom prst="rect">
            <a:avLst/>
          </a:prstGeom>
        </p:spPr>
      </p:pic>
      <p:pic>
        <p:nvPicPr>
          <p:cNvPr id="1032" name="Picture 8" descr="Exploring a Twitter Network With Memgraph in a Jupyter Notebook"/>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92645" y="3726628"/>
            <a:ext cx="4416014" cy="22080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538092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pt-PT" dirty="0" smtClean="0"/>
              <a:t>Explaratory Data Analysis</a:t>
            </a:r>
            <a:endParaRPr lang="pt-PT" dirty="0"/>
          </a:p>
        </p:txBody>
      </p:sp>
      <p:sp>
        <p:nvSpPr>
          <p:cNvPr id="3" name="Content Placeholder 2"/>
          <p:cNvSpPr>
            <a:spLocks noGrp="1"/>
          </p:cNvSpPr>
          <p:nvPr>
            <p:ph idx="1"/>
          </p:nvPr>
        </p:nvSpPr>
        <p:spPr>
          <a:xfrm>
            <a:off x="1389528" y="1845734"/>
            <a:ext cx="9766151" cy="4023360"/>
          </a:xfrm>
        </p:spPr>
        <p:txBody>
          <a:bodyPr/>
          <a:lstStyle/>
          <a:p>
            <a:endParaRPr lang="pt-PT" dirty="0" smtClean="0"/>
          </a:p>
          <a:p>
            <a:endParaRPr lang="pt-PT" dirty="0"/>
          </a:p>
          <a:p>
            <a:endParaRPr lang="pt-PT" dirty="0" smtClean="0"/>
          </a:p>
          <a:p>
            <a:pPr marL="0" indent="0">
              <a:buNone/>
            </a:pPr>
            <a:endParaRPr lang="pt-PT" dirty="0" smtClean="0"/>
          </a:p>
          <a:p>
            <a:pPr marL="0" indent="0">
              <a:buNone/>
            </a:pPr>
            <a:endParaRPr lang="pt-PT" dirty="0" smtClean="0"/>
          </a:p>
          <a:p>
            <a:pPr marL="0" indent="0">
              <a:buNone/>
            </a:pPr>
            <a:endParaRPr lang="pt-PT" dirty="0" smtClean="0"/>
          </a:p>
          <a:p>
            <a:pPr>
              <a:buFont typeface="Wingdings" panose="05000000000000000000" pitchFamily="2" charset="2"/>
              <a:buChar char="Ø"/>
            </a:pPr>
            <a:r>
              <a:rPr lang="pt-PT" dirty="0">
                <a:latin typeface="+mj-lt"/>
              </a:rPr>
              <a:t>S</a:t>
            </a:r>
            <a:r>
              <a:rPr lang="pt-PT" dirty="0" smtClean="0">
                <a:latin typeface="+mj-lt"/>
              </a:rPr>
              <a:t>trong seasonality</a:t>
            </a:r>
          </a:p>
          <a:p>
            <a:pPr>
              <a:buFont typeface="Wingdings" panose="05000000000000000000" pitchFamily="2" charset="2"/>
              <a:buChar char="Ø"/>
            </a:pPr>
            <a:r>
              <a:rPr lang="pt-PT" dirty="0" smtClean="0">
                <a:latin typeface="+mj-lt"/>
              </a:rPr>
              <a:t>Slight trend</a:t>
            </a:r>
            <a:endParaRPr lang="pt-PT" dirty="0">
              <a:latin typeface="+mj-lt"/>
            </a:endParaRP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1979556" y="1845734"/>
            <a:ext cx="7818867" cy="2280160"/>
          </a:xfrm>
          <a:prstGeom prst="rect">
            <a:avLst/>
          </a:prstGeom>
        </p:spPr>
      </p:pic>
    </p:spTree>
    <p:extLst>
      <p:ext uri="{BB962C8B-B14F-4D97-AF65-F5344CB8AC3E}">
        <p14:creationId xmlns:p14="http://schemas.microsoft.com/office/powerpoint/2010/main" val="2301516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3" cstate="print">
            <a:extLst>
              <a:ext uri="{28A0092B-C50C-407E-A947-70E740481C1C}">
                <a14:useLocalDpi xmlns:a14="http://schemas.microsoft.com/office/drawing/2010/main" val="0"/>
              </a:ext>
            </a:extLst>
          </a:blip>
          <a:stretch>
            <a:fillRect/>
          </a:stretch>
        </p:blipFill>
        <p:spPr>
          <a:xfrm>
            <a:off x="383297" y="814892"/>
            <a:ext cx="5167630" cy="1767840"/>
          </a:xfrm>
          <a:prstGeom prst="rect">
            <a:avLst/>
          </a:prstGeom>
        </p:spPr>
      </p:pic>
      <p:pic>
        <p:nvPicPr>
          <p:cNvPr id="3" name="Picture 2"/>
          <p:cNvPicPr/>
          <p:nvPr/>
        </p:nvPicPr>
        <p:blipFill>
          <a:blip r:embed="rId4" cstate="print">
            <a:extLst>
              <a:ext uri="{28A0092B-C50C-407E-A947-70E740481C1C}">
                <a14:useLocalDpi xmlns:a14="http://schemas.microsoft.com/office/drawing/2010/main" val="0"/>
              </a:ext>
            </a:extLst>
          </a:blip>
          <a:stretch>
            <a:fillRect/>
          </a:stretch>
        </p:blipFill>
        <p:spPr>
          <a:xfrm>
            <a:off x="446050" y="3305848"/>
            <a:ext cx="5192750" cy="2180552"/>
          </a:xfrm>
          <a:prstGeom prst="rect">
            <a:avLst/>
          </a:prstGeom>
        </p:spPr>
      </p:pic>
      <p:pic>
        <p:nvPicPr>
          <p:cNvPr id="4" name="Picture 3"/>
          <p:cNvPicPr/>
          <p:nvPr/>
        </p:nvPicPr>
        <p:blipFill>
          <a:blip r:embed="rId5" cstate="print">
            <a:extLst>
              <a:ext uri="{28A0092B-C50C-407E-A947-70E740481C1C}">
                <a14:useLocalDpi xmlns:a14="http://schemas.microsoft.com/office/drawing/2010/main" val="0"/>
              </a:ext>
            </a:extLst>
          </a:blip>
          <a:stretch>
            <a:fillRect/>
          </a:stretch>
        </p:blipFill>
        <p:spPr>
          <a:xfrm>
            <a:off x="6642847" y="501669"/>
            <a:ext cx="4159624" cy="2994566"/>
          </a:xfrm>
          <a:prstGeom prst="rect">
            <a:avLst/>
          </a:prstGeom>
        </p:spPr>
      </p:pic>
      <p:sp>
        <p:nvSpPr>
          <p:cNvPr id="6" name="Content Placeholder 2"/>
          <p:cNvSpPr txBox="1">
            <a:spLocks/>
          </p:cNvSpPr>
          <p:nvPr/>
        </p:nvSpPr>
        <p:spPr>
          <a:xfrm>
            <a:off x="6203576" y="3935506"/>
            <a:ext cx="5525845" cy="2151528"/>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Ø"/>
            </a:pPr>
            <a:r>
              <a:rPr lang="pt-PT" dirty="0">
                <a:latin typeface="+mj-lt"/>
              </a:rPr>
              <a:t> </a:t>
            </a:r>
            <a:r>
              <a:rPr lang="pt-PT" dirty="0" smtClean="0">
                <a:latin typeface="+mj-lt"/>
              </a:rPr>
              <a:t>Lag plot indicates yearly Seasonality</a:t>
            </a:r>
          </a:p>
          <a:p>
            <a:pPr>
              <a:buFont typeface="Wingdings" panose="05000000000000000000" pitchFamily="2" charset="2"/>
              <a:buChar char="Ø"/>
            </a:pPr>
            <a:r>
              <a:rPr lang="pt-PT" dirty="0" smtClean="0">
                <a:latin typeface="+mj-lt"/>
              </a:rPr>
              <a:t> July and August had the highest temperatures</a:t>
            </a:r>
          </a:p>
          <a:p>
            <a:pPr>
              <a:buFont typeface="Wingdings" panose="05000000000000000000" pitchFamily="2" charset="2"/>
              <a:buChar char="Ø"/>
            </a:pPr>
            <a:r>
              <a:rPr lang="pt-PT" dirty="0" smtClean="0">
                <a:latin typeface="+mj-lt"/>
              </a:rPr>
              <a:t>Yearly average temperatures indicate trend</a:t>
            </a:r>
            <a:endParaRPr lang="pt-PT" dirty="0">
              <a:latin typeface="+mj-lt"/>
            </a:endParaRPr>
          </a:p>
        </p:txBody>
      </p:sp>
      <p:sp>
        <p:nvSpPr>
          <p:cNvPr id="7" name="Rectangle 6"/>
          <p:cNvSpPr/>
          <p:nvPr/>
        </p:nvSpPr>
        <p:spPr>
          <a:xfrm>
            <a:off x="691190" y="3459803"/>
            <a:ext cx="645460" cy="24204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10185153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pt-PT" dirty="0" smtClean="0"/>
              <a:t>Methods of Decomposition </a:t>
            </a:r>
            <a:endParaRPr lang="pt-PT" dirty="0"/>
          </a:p>
        </p:txBody>
      </p:sp>
      <p:sp>
        <p:nvSpPr>
          <p:cNvPr id="3" name="Content Placeholder 2"/>
          <p:cNvSpPr>
            <a:spLocks noGrp="1"/>
          </p:cNvSpPr>
          <p:nvPr>
            <p:ph idx="1"/>
          </p:nvPr>
        </p:nvSpPr>
        <p:spPr/>
        <p:txBody>
          <a:bodyPr/>
          <a:lstStyle/>
          <a:p>
            <a:pPr marL="0" indent="0">
              <a:buNone/>
            </a:pPr>
            <a:endParaRPr lang="pt-PT" dirty="0"/>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840944" y="2859741"/>
            <a:ext cx="3399361" cy="2701251"/>
          </a:xfrm>
          <a:prstGeom prst="rect">
            <a:avLst/>
          </a:prstGeom>
        </p:spPr>
      </p:pic>
      <p:pic>
        <p:nvPicPr>
          <p:cNvPr id="5" name="Picture 4"/>
          <p:cNvPicPr/>
          <p:nvPr/>
        </p:nvPicPr>
        <p:blipFill>
          <a:blip r:embed="rId4" cstate="print">
            <a:extLst>
              <a:ext uri="{28A0092B-C50C-407E-A947-70E740481C1C}">
                <a14:useLocalDpi xmlns:a14="http://schemas.microsoft.com/office/drawing/2010/main" val="0"/>
              </a:ext>
            </a:extLst>
          </a:blip>
          <a:stretch>
            <a:fillRect/>
          </a:stretch>
        </p:blipFill>
        <p:spPr>
          <a:xfrm>
            <a:off x="4681425" y="2994043"/>
            <a:ext cx="2633775" cy="2510286"/>
          </a:xfrm>
          <a:prstGeom prst="rect">
            <a:avLst/>
          </a:prstGeom>
        </p:spPr>
      </p:pic>
      <p:pic>
        <p:nvPicPr>
          <p:cNvPr id="6" name="Picture 5"/>
          <p:cNvPicPr/>
          <p:nvPr/>
        </p:nvPicPr>
        <p:blipFill>
          <a:blip r:embed="rId5">
            <a:extLst>
              <a:ext uri="{28A0092B-C50C-407E-A947-70E740481C1C}">
                <a14:useLocalDpi xmlns:a14="http://schemas.microsoft.com/office/drawing/2010/main" val="0"/>
              </a:ext>
            </a:extLst>
          </a:blip>
          <a:stretch>
            <a:fillRect/>
          </a:stretch>
        </p:blipFill>
        <p:spPr>
          <a:xfrm>
            <a:off x="7751445" y="2800751"/>
            <a:ext cx="3404235" cy="2896870"/>
          </a:xfrm>
          <a:prstGeom prst="rect">
            <a:avLst/>
          </a:prstGeom>
        </p:spPr>
      </p:pic>
      <p:sp>
        <p:nvSpPr>
          <p:cNvPr id="8" name="TextBox 7"/>
          <p:cNvSpPr txBox="1"/>
          <p:nvPr/>
        </p:nvSpPr>
        <p:spPr>
          <a:xfrm>
            <a:off x="1493828" y="2436222"/>
            <a:ext cx="3299012" cy="369332"/>
          </a:xfrm>
          <a:prstGeom prst="rect">
            <a:avLst/>
          </a:prstGeom>
          <a:noFill/>
        </p:spPr>
        <p:txBody>
          <a:bodyPr wrap="square" rtlCol="0">
            <a:spAutoFit/>
          </a:bodyPr>
          <a:lstStyle/>
          <a:p>
            <a:r>
              <a:rPr lang="pt-PT" dirty="0" smtClean="0">
                <a:latin typeface="+mj-lt"/>
              </a:rPr>
              <a:t>TS Decomposition</a:t>
            </a:r>
            <a:endParaRPr lang="pt-PT" dirty="0">
              <a:latin typeface="+mj-lt"/>
            </a:endParaRPr>
          </a:p>
        </p:txBody>
      </p:sp>
      <p:sp>
        <p:nvSpPr>
          <p:cNvPr id="9" name="Rectangle 8"/>
          <p:cNvSpPr/>
          <p:nvPr/>
        </p:nvSpPr>
        <p:spPr>
          <a:xfrm>
            <a:off x="8808103" y="2751367"/>
            <a:ext cx="1290917" cy="19329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0" name="TextBox 9"/>
          <p:cNvSpPr txBox="1"/>
          <p:nvPr/>
        </p:nvSpPr>
        <p:spPr>
          <a:xfrm>
            <a:off x="8093952" y="2230712"/>
            <a:ext cx="3061728" cy="923330"/>
          </a:xfrm>
          <a:prstGeom prst="rect">
            <a:avLst/>
          </a:prstGeom>
          <a:noFill/>
        </p:spPr>
        <p:txBody>
          <a:bodyPr wrap="square" rtlCol="0">
            <a:spAutoFit/>
          </a:bodyPr>
          <a:lstStyle/>
          <a:p>
            <a:pPr algn="ctr"/>
            <a:r>
              <a:rPr lang="pt-PT" dirty="0" smtClean="0">
                <a:latin typeface="+mj-lt"/>
              </a:rPr>
              <a:t>Differencing Operator (</a:t>
            </a:r>
            <a:r>
              <a:rPr lang="en-GB" dirty="0" smtClean="0">
                <a:latin typeface="+mj-lt"/>
              </a:rPr>
              <a:t>∇</a:t>
            </a:r>
            <a:r>
              <a:rPr lang="en-GB" dirty="0">
                <a:latin typeface="+mj-lt"/>
              </a:rPr>
              <a:t>S=1−</a:t>
            </a:r>
            <a:r>
              <a:rPr lang="en-GB" dirty="0" smtClean="0">
                <a:latin typeface="+mj-lt"/>
              </a:rPr>
              <a:t>B</a:t>
            </a:r>
            <a:r>
              <a:rPr lang="en-GB" baseline="30000" dirty="0" smtClean="0">
                <a:latin typeface="+mj-lt"/>
              </a:rPr>
              <a:t>12</a:t>
            </a:r>
            <a:r>
              <a:rPr lang="en-GB" dirty="0" smtClean="0">
                <a:latin typeface="+mj-lt"/>
              </a:rPr>
              <a:t>)</a:t>
            </a:r>
            <a:endParaRPr lang="en-GB" baseline="30000" dirty="0" smtClean="0">
              <a:latin typeface="+mj-lt"/>
            </a:endParaRPr>
          </a:p>
          <a:p>
            <a:endParaRPr lang="pt-PT" dirty="0"/>
          </a:p>
        </p:txBody>
      </p:sp>
    </p:spTree>
    <p:extLst>
      <p:ext uri="{BB962C8B-B14F-4D97-AF65-F5344CB8AC3E}">
        <p14:creationId xmlns:p14="http://schemas.microsoft.com/office/powerpoint/2010/main" val="3820593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pt-PT" dirty="0" smtClean="0"/>
              <a:t>ADF &amp; KPSS</a:t>
            </a:r>
            <a:endParaRPr lang="pt-PT" dirty="0"/>
          </a:p>
        </p:txBody>
      </p:sp>
      <p:sp>
        <p:nvSpPr>
          <p:cNvPr id="3" name="Content Placeholder 2"/>
          <p:cNvSpPr>
            <a:spLocks noGrp="1"/>
          </p:cNvSpPr>
          <p:nvPr>
            <p:ph idx="1"/>
          </p:nvPr>
        </p:nvSpPr>
        <p:spPr>
          <a:xfrm>
            <a:off x="1097280" y="1993452"/>
            <a:ext cx="10058400" cy="4023360"/>
          </a:xfrm>
        </p:spPr>
        <p:txBody>
          <a:bodyPr>
            <a:normAutofit/>
          </a:bodyPr>
          <a:lstStyle/>
          <a:p>
            <a:endParaRPr lang="pt-PT" dirty="0" smtClean="0"/>
          </a:p>
          <a:p>
            <a:endParaRPr lang="pt-PT" dirty="0"/>
          </a:p>
          <a:p>
            <a:endParaRPr lang="pt-PT" dirty="0" smtClean="0"/>
          </a:p>
          <a:p>
            <a:endParaRPr lang="pt-PT" dirty="0"/>
          </a:p>
          <a:p>
            <a:endParaRPr lang="pt-PT" dirty="0" smtClean="0"/>
          </a:p>
          <a:p>
            <a:endParaRPr lang="pt-PT" dirty="0"/>
          </a:p>
          <a:p>
            <a:pPr>
              <a:buFont typeface="Wingdings" panose="05000000000000000000" pitchFamily="2" charset="2"/>
              <a:buChar char="Ø"/>
            </a:pPr>
            <a:r>
              <a:rPr lang="pt-PT" dirty="0" smtClean="0"/>
              <a:t>Original: Unable to Reject ADF H</a:t>
            </a:r>
            <a:r>
              <a:rPr lang="pt-PT" baseline="-25000" dirty="0" smtClean="0"/>
              <a:t>0 </a:t>
            </a:r>
            <a:r>
              <a:rPr lang="pt-PT" dirty="0" smtClean="0"/>
              <a:t>; Rejects KPSS H</a:t>
            </a:r>
            <a:r>
              <a:rPr lang="pt-PT" baseline="-25000" dirty="0" smtClean="0"/>
              <a:t>0</a:t>
            </a:r>
          </a:p>
          <a:p>
            <a:pPr>
              <a:buFont typeface="Wingdings" panose="05000000000000000000" pitchFamily="2" charset="2"/>
              <a:buChar char="Ø"/>
            </a:pPr>
            <a:r>
              <a:rPr lang="pt-PT" dirty="0" smtClean="0"/>
              <a:t>Differenece operator: Rejects ADF H</a:t>
            </a:r>
            <a:r>
              <a:rPr lang="pt-PT" baseline="-25000" dirty="0" smtClean="0"/>
              <a:t>0</a:t>
            </a:r>
            <a:r>
              <a:rPr lang="pt-PT" dirty="0" smtClean="0"/>
              <a:t>; Does not reject KPSS </a:t>
            </a:r>
            <a:r>
              <a:rPr lang="pt-PT" dirty="0"/>
              <a:t>H</a:t>
            </a:r>
            <a:r>
              <a:rPr lang="pt-PT" baseline="-25000" dirty="0"/>
              <a:t>0</a:t>
            </a:r>
          </a:p>
          <a:p>
            <a:pPr>
              <a:buFont typeface="Wingdings" panose="05000000000000000000" pitchFamily="2" charset="2"/>
              <a:buChar char="Ø"/>
            </a:pPr>
            <a:r>
              <a:rPr lang="pt-PT" dirty="0" smtClean="0"/>
              <a:t>Residual: </a:t>
            </a:r>
            <a:r>
              <a:rPr lang="pt-PT" dirty="0"/>
              <a:t>Rejects ADF H</a:t>
            </a:r>
            <a:r>
              <a:rPr lang="pt-PT" baseline="-25000" dirty="0"/>
              <a:t>0</a:t>
            </a:r>
            <a:r>
              <a:rPr lang="pt-PT" dirty="0"/>
              <a:t>; Does not reject KPSS H</a:t>
            </a:r>
            <a:r>
              <a:rPr lang="pt-PT" baseline="-25000" dirty="0"/>
              <a:t>0</a:t>
            </a:r>
            <a:endParaRPr lang="pt-PT" dirty="0"/>
          </a:p>
        </p:txBody>
      </p:sp>
      <p:pic>
        <p:nvPicPr>
          <p:cNvPr id="4" name="Picture 3"/>
          <p:cNvPicPr/>
          <p:nvPr/>
        </p:nvPicPr>
        <p:blipFill>
          <a:blip r:embed="rId3">
            <a:extLst>
              <a:ext uri="{28A0092B-C50C-407E-A947-70E740481C1C}">
                <a14:useLocalDpi xmlns:a14="http://schemas.microsoft.com/office/drawing/2010/main" val="0"/>
              </a:ext>
            </a:extLst>
          </a:blip>
          <a:stretch>
            <a:fillRect/>
          </a:stretch>
        </p:blipFill>
        <p:spPr>
          <a:xfrm>
            <a:off x="1863014" y="1993452"/>
            <a:ext cx="8276068" cy="2515796"/>
          </a:xfrm>
          <a:prstGeom prst="rect">
            <a:avLst/>
          </a:prstGeom>
        </p:spPr>
      </p:pic>
    </p:spTree>
    <p:extLst>
      <p:ext uri="{BB962C8B-B14F-4D97-AF65-F5344CB8AC3E}">
        <p14:creationId xmlns:p14="http://schemas.microsoft.com/office/powerpoint/2010/main" val="40345823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28334" y="699247"/>
            <a:ext cx="10058400" cy="2850777"/>
          </a:xfrm>
          <a:solidFill>
            <a:schemeClr val="bg1"/>
          </a:solidFill>
        </p:spPr>
        <p:txBody>
          <a:bodyPr/>
          <a:lstStyle/>
          <a:p>
            <a:pPr algn="ctr"/>
            <a:r>
              <a:rPr lang="pt-PT" dirty="0"/>
              <a:t>F</a:t>
            </a:r>
            <a:r>
              <a:rPr lang="pt-PT" dirty="0" smtClean="0"/>
              <a:t>orecasting</a:t>
            </a:r>
            <a:endParaRPr lang="pt-PT" dirty="0"/>
          </a:p>
        </p:txBody>
      </p:sp>
      <p:sp>
        <p:nvSpPr>
          <p:cNvPr id="3" name="Subtitle 2"/>
          <p:cNvSpPr>
            <a:spLocks noGrp="1"/>
          </p:cNvSpPr>
          <p:nvPr>
            <p:ph type="subTitle" idx="1"/>
          </p:nvPr>
        </p:nvSpPr>
        <p:spPr/>
        <p:txBody>
          <a:bodyPr/>
          <a:lstStyle/>
          <a:p>
            <a:endParaRPr lang="pt-PT" dirty="0"/>
          </a:p>
        </p:txBody>
      </p:sp>
      <p:sp>
        <p:nvSpPr>
          <p:cNvPr id="4" name="Rectangle 3"/>
          <p:cNvSpPr/>
          <p:nvPr/>
        </p:nvSpPr>
        <p:spPr>
          <a:xfrm>
            <a:off x="1100051" y="4025153"/>
            <a:ext cx="10141690" cy="8337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376589759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pt-PT" dirty="0" smtClean="0"/>
              <a:t>SARIMA</a:t>
            </a:r>
            <a:endParaRPr lang="pt-PT" dirty="0"/>
          </a:p>
        </p:txBody>
      </p:sp>
      <p:sp>
        <p:nvSpPr>
          <p:cNvPr id="3" name="Content Placeholder 2"/>
          <p:cNvSpPr>
            <a:spLocks noGrp="1"/>
          </p:cNvSpPr>
          <p:nvPr>
            <p:ph idx="1"/>
          </p:nvPr>
        </p:nvSpPr>
        <p:spPr>
          <a:xfrm>
            <a:off x="1168998" y="2149737"/>
            <a:ext cx="10058400" cy="4023360"/>
          </a:xfrm>
        </p:spPr>
        <p:txBody>
          <a:bodyPr/>
          <a:lstStyle/>
          <a:p>
            <a:pPr>
              <a:buFont typeface="Wingdings" panose="05000000000000000000" pitchFamily="2" charset="2"/>
              <a:buChar char="Ø"/>
            </a:pPr>
            <a:r>
              <a:rPr lang="pt-PT" dirty="0" smtClean="0">
                <a:latin typeface="+mj-lt"/>
              </a:rPr>
              <a:t>3 Models through the analysis of ACF and PACF: </a:t>
            </a:r>
          </a:p>
          <a:p>
            <a:pPr lvl="5">
              <a:buFont typeface="Wingdings" panose="05000000000000000000" pitchFamily="2" charset="2"/>
              <a:buChar char="Ø"/>
            </a:pPr>
            <a:r>
              <a:rPr lang="pt-PT" sz="2000" dirty="0" smtClean="0">
                <a:latin typeface="+mj-lt"/>
              </a:rPr>
              <a:t> </a:t>
            </a:r>
            <a:r>
              <a:rPr lang="en-GB" sz="2000" dirty="0" smtClean="0">
                <a:latin typeface="+mj-lt"/>
              </a:rPr>
              <a:t>(2,0,0)(0,1,1)12 </a:t>
            </a:r>
          </a:p>
          <a:p>
            <a:pPr lvl="5">
              <a:buFont typeface="Wingdings" panose="05000000000000000000" pitchFamily="2" charset="2"/>
              <a:buChar char="Ø"/>
            </a:pPr>
            <a:r>
              <a:rPr lang="en-GB" sz="2000" dirty="0" smtClean="0">
                <a:latin typeface="+mj-lt"/>
              </a:rPr>
              <a:t> (3,0,0)(0,1,1)12 </a:t>
            </a:r>
          </a:p>
          <a:p>
            <a:pPr lvl="5">
              <a:buFont typeface="Wingdings" panose="05000000000000000000" pitchFamily="2" charset="2"/>
              <a:buChar char="Ø"/>
            </a:pPr>
            <a:r>
              <a:rPr lang="en-GB" sz="2000" dirty="0" smtClean="0">
                <a:latin typeface="+mj-lt"/>
              </a:rPr>
              <a:t> (</a:t>
            </a:r>
            <a:r>
              <a:rPr lang="en-GB" sz="2000" dirty="0">
                <a:latin typeface="+mj-lt"/>
              </a:rPr>
              <a:t>0,0,2)(0,1,1)12</a:t>
            </a:r>
            <a:endParaRPr lang="en-GB" sz="2000" dirty="0" smtClean="0">
              <a:latin typeface="+mj-lt"/>
            </a:endParaRPr>
          </a:p>
          <a:p>
            <a:pPr>
              <a:buFont typeface="Wingdings" panose="05000000000000000000" pitchFamily="2" charset="2"/>
              <a:buChar char="Ø"/>
            </a:pPr>
            <a:r>
              <a:rPr lang="pt-PT" dirty="0" smtClean="0">
                <a:latin typeface="+mj-lt"/>
              </a:rPr>
              <a:t>2 </a:t>
            </a:r>
            <a:r>
              <a:rPr lang="pt-PT" dirty="0">
                <a:latin typeface="+mj-lt"/>
              </a:rPr>
              <a:t>Models using auto.arima:</a:t>
            </a:r>
          </a:p>
          <a:p>
            <a:pPr lvl="5">
              <a:buFont typeface="Wingdings" panose="05000000000000000000" pitchFamily="2" charset="2"/>
              <a:buChar char="Ø"/>
            </a:pPr>
            <a:r>
              <a:rPr lang="en-GB" sz="2000" dirty="0">
                <a:latin typeface="+mj-lt"/>
              </a:rPr>
              <a:t> (0,0,10)(0,1,3)12</a:t>
            </a:r>
          </a:p>
          <a:p>
            <a:pPr lvl="5">
              <a:buFont typeface="Wingdings" panose="05000000000000000000" pitchFamily="2" charset="2"/>
              <a:buChar char="Ø"/>
            </a:pPr>
            <a:r>
              <a:rPr lang="en-GB" sz="2000" dirty="0">
                <a:latin typeface="+mj-lt"/>
              </a:rPr>
              <a:t> (0,0,3)(2,1,3)12</a:t>
            </a:r>
            <a:endParaRPr lang="pt-PT" sz="2000" dirty="0">
              <a:latin typeface="+mj-lt"/>
            </a:endParaRPr>
          </a:p>
          <a:p>
            <a:pPr marL="871400" lvl="5" indent="0">
              <a:buNone/>
            </a:pPr>
            <a:r>
              <a:rPr lang="pt-PT" sz="2000" dirty="0" smtClean="0"/>
              <a:t>	 </a:t>
            </a:r>
            <a:endParaRPr lang="pt-PT" sz="2000" dirty="0"/>
          </a:p>
        </p:txBody>
      </p:sp>
      <p:pic>
        <p:nvPicPr>
          <p:cNvPr id="5" name="Picture 4"/>
          <p:cNvPicPr/>
          <p:nvPr/>
        </p:nvPicPr>
        <p:blipFill>
          <a:blip r:embed="rId3" cstate="print">
            <a:extLst>
              <a:ext uri="{28A0092B-C50C-407E-A947-70E740481C1C}">
                <a14:useLocalDpi xmlns:a14="http://schemas.microsoft.com/office/drawing/2010/main" val="0"/>
              </a:ext>
            </a:extLst>
          </a:blip>
          <a:stretch>
            <a:fillRect/>
          </a:stretch>
        </p:blipFill>
        <p:spPr>
          <a:xfrm>
            <a:off x="6672616" y="1846730"/>
            <a:ext cx="5008396" cy="2850776"/>
          </a:xfrm>
          <a:prstGeom prst="rect">
            <a:avLst/>
          </a:prstGeom>
        </p:spPr>
      </p:pic>
      <p:sp>
        <p:nvSpPr>
          <p:cNvPr id="8" name="Content Placeholder 2"/>
          <p:cNvSpPr txBox="1">
            <a:spLocks/>
          </p:cNvSpPr>
          <p:nvPr/>
        </p:nvSpPr>
        <p:spPr>
          <a:xfrm>
            <a:off x="6813175" y="4950311"/>
            <a:ext cx="5378825" cy="1321397"/>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Ø"/>
            </a:pPr>
            <a:r>
              <a:rPr lang="pt-PT" dirty="0"/>
              <a:t> ACF Non-seasonal decay; Spike at Lag 12</a:t>
            </a:r>
          </a:p>
          <a:p>
            <a:pPr>
              <a:buFont typeface="Wingdings" panose="05000000000000000000" pitchFamily="2" charset="2"/>
              <a:buChar char="Ø"/>
            </a:pPr>
            <a:r>
              <a:rPr lang="pt-PT" dirty="0"/>
              <a:t> PACF Seasonal Decay, Inital spike at Lag 2</a:t>
            </a:r>
          </a:p>
          <a:p>
            <a:pPr marL="871400" lvl="5" indent="0">
              <a:buFont typeface="Calibri" pitchFamily="34" charset="0"/>
              <a:buNone/>
            </a:pPr>
            <a:r>
              <a:rPr lang="pt-PT" sz="2000" dirty="0" smtClean="0"/>
              <a:t>	 </a:t>
            </a:r>
            <a:endParaRPr lang="pt-PT" sz="2000" dirty="0"/>
          </a:p>
        </p:txBody>
      </p:sp>
    </p:spTree>
    <p:extLst>
      <p:ext uri="{BB962C8B-B14F-4D97-AF65-F5344CB8AC3E}">
        <p14:creationId xmlns:p14="http://schemas.microsoft.com/office/powerpoint/2010/main" val="239450992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pt-PT" dirty="0" smtClean="0"/>
              <a:t>Evaluation </a:t>
            </a:r>
            <a:endParaRPr lang="pt-PT" dirty="0"/>
          </a:p>
        </p:txBody>
      </p:sp>
      <p:sp>
        <p:nvSpPr>
          <p:cNvPr id="3" name="Content Placeholder 2"/>
          <p:cNvSpPr>
            <a:spLocks noGrp="1"/>
          </p:cNvSpPr>
          <p:nvPr>
            <p:ph idx="1"/>
          </p:nvPr>
        </p:nvSpPr>
        <p:spPr>
          <a:xfrm>
            <a:off x="703727" y="4446602"/>
            <a:ext cx="5414683" cy="2032199"/>
          </a:xfrm>
        </p:spPr>
        <p:txBody>
          <a:bodyPr/>
          <a:lstStyle/>
          <a:p>
            <a:pPr>
              <a:buFont typeface="Wingdings" panose="05000000000000000000" pitchFamily="2" charset="2"/>
              <a:buChar char="Ø"/>
            </a:pPr>
            <a:r>
              <a:rPr lang="pt-PT" dirty="0" smtClean="0">
                <a:latin typeface="+mj-lt"/>
              </a:rPr>
              <a:t>Model with lowest AIC was model 3</a:t>
            </a:r>
          </a:p>
          <a:p>
            <a:pPr>
              <a:buFont typeface="Wingdings" panose="05000000000000000000" pitchFamily="2" charset="2"/>
              <a:buChar char="Ø"/>
            </a:pPr>
            <a:r>
              <a:rPr lang="pt-PT" dirty="0" smtClean="0">
                <a:latin typeface="+mj-lt"/>
              </a:rPr>
              <a:t>Model with lowest BIC was model 5</a:t>
            </a:r>
            <a:endParaRPr lang="pt-PT" dirty="0">
              <a:latin typeface="+mj-lt"/>
            </a:endParaRPr>
          </a:p>
        </p:txBody>
      </p:sp>
      <p:pic>
        <p:nvPicPr>
          <p:cNvPr id="4" name="Picture 3"/>
          <p:cNvPicPr/>
          <p:nvPr/>
        </p:nvPicPr>
        <p:blipFill>
          <a:blip r:embed="rId3">
            <a:extLst>
              <a:ext uri="{28A0092B-C50C-407E-A947-70E740481C1C}">
                <a14:useLocalDpi xmlns:a14="http://schemas.microsoft.com/office/drawing/2010/main" val="0"/>
              </a:ext>
            </a:extLst>
          </a:blip>
          <a:stretch>
            <a:fillRect/>
          </a:stretch>
        </p:blipFill>
        <p:spPr>
          <a:xfrm>
            <a:off x="191845" y="2490505"/>
            <a:ext cx="5558116" cy="1543609"/>
          </a:xfrm>
          <a:prstGeom prst="rect">
            <a:avLst/>
          </a:prstGeom>
        </p:spPr>
      </p:pic>
      <p:pic>
        <p:nvPicPr>
          <p:cNvPr id="5" name="Picture 4"/>
          <p:cNvPicPr/>
          <p:nvPr/>
        </p:nvPicPr>
        <p:blipFill>
          <a:blip r:embed="rId4">
            <a:extLst>
              <a:ext uri="{28A0092B-C50C-407E-A947-70E740481C1C}">
                <a14:useLocalDpi xmlns:a14="http://schemas.microsoft.com/office/drawing/2010/main" val="0"/>
              </a:ext>
            </a:extLst>
          </a:blip>
          <a:stretch>
            <a:fillRect/>
          </a:stretch>
        </p:blipFill>
        <p:spPr>
          <a:xfrm>
            <a:off x="6126480" y="2490506"/>
            <a:ext cx="5800166" cy="1543609"/>
          </a:xfrm>
          <a:prstGeom prst="rect">
            <a:avLst/>
          </a:prstGeom>
        </p:spPr>
      </p:pic>
      <p:sp>
        <p:nvSpPr>
          <p:cNvPr id="6" name="Content Placeholder 2"/>
          <p:cNvSpPr txBox="1">
            <a:spLocks/>
          </p:cNvSpPr>
          <p:nvPr/>
        </p:nvSpPr>
        <p:spPr>
          <a:xfrm>
            <a:off x="6503893" y="4446601"/>
            <a:ext cx="5414683" cy="2032199"/>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Ø"/>
            </a:pPr>
            <a:r>
              <a:rPr lang="pt-PT" dirty="0" smtClean="0">
                <a:latin typeface="+mj-lt"/>
              </a:rPr>
              <a:t>Model 4 had the lowest error values in most of the error measures</a:t>
            </a:r>
          </a:p>
          <a:p>
            <a:pPr>
              <a:buFont typeface="Wingdings" panose="05000000000000000000" pitchFamily="2" charset="2"/>
              <a:buChar char="Ø"/>
            </a:pPr>
            <a:r>
              <a:rPr lang="pt-PT" dirty="0" smtClean="0">
                <a:latin typeface="+mj-lt"/>
              </a:rPr>
              <a:t>Near identical results</a:t>
            </a:r>
            <a:endParaRPr lang="pt-PT" dirty="0">
              <a:latin typeface="+mj-lt"/>
            </a:endParaRPr>
          </a:p>
        </p:txBody>
      </p:sp>
    </p:spTree>
    <p:extLst>
      <p:ext uri="{BB962C8B-B14F-4D97-AF65-F5344CB8AC3E}">
        <p14:creationId xmlns:p14="http://schemas.microsoft.com/office/powerpoint/2010/main" val="34671861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pt-PT" dirty="0" smtClean="0"/>
              <a:t>Diagnostics and out of-point forecasting of SARIMA </a:t>
            </a:r>
            <a:r>
              <a:rPr lang="en-GB" dirty="0" smtClean="0"/>
              <a:t>(3,0,0</a:t>
            </a:r>
            <a:r>
              <a:rPr lang="en-GB" dirty="0"/>
              <a:t>)(0,1,1)12 </a:t>
            </a:r>
            <a:endParaRPr lang="pt-PT" dirty="0"/>
          </a:p>
        </p:txBody>
      </p:sp>
      <p:sp>
        <p:nvSpPr>
          <p:cNvPr id="3" name="Content Placeholder 2"/>
          <p:cNvSpPr>
            <a:spLocks noGrp="1"/>
          </p:cNvSpPr>
          <p:nvPr>
            <p:ph idx="1"/>
          </p:nvPr>
        </p:nvSpPr>
        <p:spPr>
          <a:xfrm>
            <a:off x="681318" y="5127812"/>
            <a:ext cx="10411609" cy="906182"/>
          </a:xfrm>
        </p:spPr>
        <p:txBody>
          <a:bodyPr>
            <a:normAutofit lnSpcReduction="10000"/>
          </a:bodyPr>
          <a:lstStyle/>
          <a:p>
            <a:r>
              <a:rPr lang="en-GB" dirty="0" smtClean="0">
                <a:latin typeface="+mj-lt"/>
              </a:rPr>
              <a:t>No obvious </a:t>
            </a:r>
            <a:r>
              <a:rPr lang="en-GB" dirty="0">
                <a:latin typeface="+mj-lt"/>
              </a:rPr>
              <a:t>patterns in </a:t>
            </a:r>
            <a:r>
              <a:rPr lang="en-GB" dirty="0" smtClean="0">
                <a:latin typeface="+mj-lt"/>
              </a:rPr>
              <a:t>residuals, </a:t>
            </a:r>
            <a:r>
              <a:rPr lang="en-GB" dirty="0">
                <a:latin typeface="+mj-lt"/>
              </a:rPr>
              <a:t>The QQ plot shows that most of the points lie on the straight </a:t>
            </a:r>
            <a:r>
              <a:rPr lang="en-GB" dirty="0" smtClean="0">
                <a:latin typeface="+mj-lt"/>
              </a:rPr>
              <a:t>line, lastly </a:t>
            </a:r>
            <a:r>
              <a:rPr lang="en-GB" dirty="0">
                <a:latin typeface="+mj-lt"/>
              </a:rPr>
              <a:t>95% of </a:t>
            </a:r>
            <a:r>
              <a:rPr lang="en-GB" dirty="0" smtClean="0">
                <a:latin typeface="+mj-lt"/>
              </a:rPr>
              <a:t>residuals </a:t>
            </a:r>
            <a:r>
              <a:rPr lang="en-GB" dirty="0">
                <a:latin typeface="+mj-lt"/>
              </a:rPr>
              <a:t>in the </a:t>
            </a:r>
            <a:r>
              <a:rPr lang="en-GB" dirty="0" err="1">
                <a:latin typeface="+mj-lt"/>
              </a:rPr>
              <a:t>correlogram</a:t>
            </a:r>
            <a:r>
              <a:rPr lang="en-GB" dirty="0">
                <a:latin typeface="+mj-lt"/>
              </a:rPr>
              <a:t> (ACF of residuals) </a:t>
            </a:r>
            <a:r>
              <a:rPr lang="en-GB" dirty="0" smtClean="0">
                <a:latin typeface="+mj-lt"/>
              </a:rPr>
              <a:t>are within the confidence band</a:t>
            </a:r>
            <a:endParaRPr lang="pt-PT" dirty="0">
              <a:latin typeface="+mj-lt"/>
            </a:endParaRP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971774" y="1831340"/>
            <a:ext cx="4272579" cy="3117178"/>
          </a:xfrm>
          <a:prstGeom prst="rect">
            <a:avLst/>
          </a:prstGeom>
        </p:spPr>
      </p:pic>
      <p:pic>
        <p:nvPicPr>
          <p:cNvPr id="5" name="Picture 4"/>
          <p:cNvPicPr/>
          <p:nvPr/>
        </p:nvPicPr>
        <p:blipFill>
          <a:blip r:embed="rId4">
            <a:extLst>
              <a:ext uri="{28A0092B-C50C-407E-A947-70E740481C1C}">
                <a14:useLocalDpi xmlns:a14="http://schemas.microsoft.com/office/drawing/2010/main" val="0"/>
              </a:ext>
            </a:extLst>
          </a:blip>
          <a:stretch>
            <a:fillRect/>
          </a:stretch>
        </p:blipFill>
        <p:spPr>
          <a:xfrm>
            <a:off x="6562838" y="1823645"/>
            <a:ext cx="4311349" cy="3117178"/>
          </a:xfrm>
          <a:prstGeom prst="rect">
            <a:avLst/>
          </a:prstGeom>
        </p:spPr>
      </p:pic>
    </p:spTree>
    <p:extLst>
      <p:ext uri="{BB962C8B-B14F-4D97-AF65-F5344CB8AC3E}">
        <p14:creationId xmlns:p14="http://schemas.microsoft.com/office/powerpoint/2010/main" val="8315497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pt-PT" dirty="0" smtClean="0"/>
              <a:t>Exponential Smoothing</a:t>
            </a:r>
            <a:endParaRPr lang="pt-PT" dirty="0"/>
          </a:p>
        </p:txBody>
      </p:sp>
      <p:sp>
        <p:nvSpPr>
          <p:cNvPr id="3" name="Content Placeholder 2"/>
          <p:cNvSpPr>
            <a:spLocks noGrp="1"/>
          </p:cNvSpPr>
          <p:nvPr>
            <p:ph idx="1"/>
          </p:nvPr>
        </p:nvSpPr>
        <p:spPr>
          <a:xfrm>
            <a:off x="1097280" y="2042957"/>
            <a:ext cx="10058400" cy="4023360"/>
          </a:xfrm>
        </p:spPr>
        <p:txBody>
          <a:bodyPr/>
          <a:lstStyle/>
          <a:p>
            <a:pPr>
              <a:buFont typeface="Wingdings" panose="05000000000000000000" pitchFamily="2" charset="2"/>
              <a:buChar char="Ø"/>
            </a:pPr>
            <a:r>
              <a:rPr lang="pt-PT" dirty="0" smtClean="0">
                <a:latin typeface="+mj-lt"/>
              </a:rPr>
              <a:t>Two variations: Additive and Multiplicative</a:t>
            </a:r>
            <a:endParaRPr lang="pt-PT" dirty="0">
              <a:latin typeface="+mj-lt"/>
            </a:endParaRPr>
          </a:p>
        </p:txBody>
      </p:sp>
      <p:pic>
        <p:nvPicPr>
          <p:cNvPr id="4" name="Picture 3"/>
          <p:cNvPicPr/>
          <p:nvPr/>
        </p:nvPicPr>
        <p:blipFill>
          <a:blip r:embed="rId3">
            <a:extLst>
              <a:ext uri="{28A0092B-C50C-407E-A947-70E740481C1C}">
                <a14:useLocalDpi xmlns:a14="http://schemas.microsoft.com/office/drawing/2010/main" val="0"/>
              </a:ext>
            </a:extLst>
          </a:blip>
          <a:stretch>
            <a:fillRect/>
          </a:stretch>
        </p:blipFill>
        <p:spPr>
          <a:xfrm>
            <a:off x="1963271" y="2698376"/>
            <a:ext cx="8014447" cy="1110826"/>
          </a:xfrm>
          <a:prstGeom prst="rect">
            <a:avLst/>
          </a:prstGeom>
        </p:spPr>
      </p:pic>
      <p:sp>
        <p:nvSpPr>
          <p:cNvPr id="5" name="Content Placeholder 2"/>
          <p:cNvSpPr txBox="1">
            <a:spLocks/>
          </p:cNvSpPr>
          <p:nvPr/>
        </p:nvSpPr>
        <p:spPr>
          <a:xfrm>
            <a:off x="1460350" y="4114799"/>
            <a:ext cx="9332259" cy="1951518"/>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en-GB" dirty="0" smtClean="0">
                <a:latin typeface="+mj-lt"/>
              </a:rPr>
              <a:t>The method </a:t>
            </a:r>
            <a:r>
              <a:rPr lang="en-GB" dirty="0">
                <a:latin typeface="+mj-lt"/>
              </a:rPr>
              <a:t>with the lowest error metrics was the multiplicative method. This is not surprising since the decomposition of the time series showed an added trend to the strong seasonality, although the distinction of methods was almost inconsequential. </a:t>
            </a:r>
            <a:endParaRPr lang="pt-PT" dirty="0">
              <a:latin typeface="+mj-lt"/>
            </a:endParaRPr>
          </a:p>
        </p:txBody>
      </p:sp>
    </p:spTree>
    <p:extLst>
      <p:ext uri="{BB962C8B-B14F-4D97-AF65-F5344CB8AC3E}">
        <p14:creationId xmlns:p14="http://schemas.microsoft.com/office/powerpoint/2010/main" val="172457258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3" cstate="print">
            <a:extLst>
              <a:ext uri="{28A0092B-C50C-407E-A947-70E740481C1C}">
                <a14:useLocalDpi xmlns:a14="http://schemas.microsoft.com/office/drawing/2010/main" val="0"/>
              </a:ext>
            </a:extLst>
          </a:blip>
          <a:stretch>
            <a:fillRect/>
          </a:stretch>
        </p:blipFill>
        <p:spPr>
          <a:xfrm>
            <a:off x="770833" y="1792791"/>
            <a:ext cx="4428696" cy="3281232"/>
          </a:xfrm>
          <a:prstGeom prst="rect">
            <a:avLst/>
          </a:prstGeom>
        </p:spPr>
      </p:pic>
      <p:pic>
        <p:nvPicPr>
          <p:cNvPr id="3" name="Picture 2"/>
          <p:cNvPicPr/>
          <p:nvPr/>
        </p:nvPicPr>
        <p:blipFill>
          <a:blip r:embed="rId4">
            <a:extLst>
              <a:ext uri="{28A0092B-C50C-407E-A947-70E740481C1C}">
                <a14:useLocalDpi xmlns:a14="http://schemas.microsoft.com/office/drawing/2010/main" val="0"/>
              </a:ext>
            </a:extLst>
          </a:blip>
          <a:stretch>
            <a:fillRect/>
          </a:stretch>
        </p:blipFill>
        <p:spPr>
          <a:xfrm>
            <a:off x="6230846" y="1792791"/>
            <a:ext cx="5055907" cy="3379844"/>
          </a:xfrm>
          <a:prstGeom prst="rect">
            <a:avLst/>
          </a:prstGeom>
        </p:spPr>
      </p:pic>
      <p:sp>
        <p:nvSpPr>
          <p:cNvPr id="5" name="TextBox 4"/>
          <p:cNvSpPr txBox="1"/>
          <p:nvPr/>
        </p:nvSpPr>
        <p:spPr>
          <a:xfrm>
            <a:off x="1210234" y="1111620"/>
            <a:ext cx="4527178" cy="523220"/>
          </a:xfrm>
          <a:prstGeom prst="rect">
            <a:avLst/>
          </a:prstGeom>
          <a:noFill/>
        </p:spPr>
        <p:txBody>
          <a:bodyPr wrap="square" rtlCol="0">
            <a:spAutoFit/>
          </a:bodyPr>
          <a:lstStyle/>
          <a:p>
            <a:r>
              <a:rPr lang="pt-PT" sz="2800" dirty="0" smtClean="0">
                <a:solidFill>
                  <a:schemeClr val="tx1">
                    <a:lumMod val="65000"/>
                    <a:lumOff val="35000"/>
                  </a:schemeClr>
                </a:solidFill>
                <a:latin typeface="+mj-lt"/>
              </a:rPr>
              <a:t>In-Point Forecasting</a:t>
            </a:r>
            <a:endParaRPr lang="pt-PT" sz="2800" dirty="0">
              <a:solidFill>
                <a:schemeClr val="tx1">
                  <a:lumMod val="65000"/>
                  <a:lumOff val="35000"/>
                </a:schemeClr>
              </a:solidFill>
              <a:latin typeface="+mj-lt"/>
            </a:endParaRPr>
          </a:p>
        </p:txBody>
      </p:sp>
      <p:sp>
        <p:nvSpPr>
          <p:cNvPr id="6" name="TextBox 5"/>
          <p:cNvSpPr txBox="1"/>
          <p:nvPr/>
        </p:nvSpPr>
        <p:spPr>
          <a:xfrm>
            <a:off x="6759575" y="1111620"/>
            <a:ext cx="4527178" cy="523220"/>
          </a:xfrm>
          <a:prstGeom prst="rect">
            <a:avLst/>
          </a:prstGeom>
          <a:noFill/>
        </p:spPr>
        <p:txBody>
          <a:bodyPr wrap="square" rtlCol="0">
            <a:spAutoFit/>
          </a:bodyPr>
          <a:lstStyle/>
          <a:p>
            <a:r>
              <a:rPr lang="pt-PT" sz="2800" dirty="0" smtClean="0">
                <a:solidFill>
                  <a:schemeClr val="tx1">
                    <a:lumMod val="65000"/>
                    <a:lumOff val="35000"/>
                  </a:schemeClr>
                </a:solidFill>
                <a:latin typeface="+mj-lt"/>
              </a:rPr>
              <a:t>Out of Point Forecasting</a:t>
            </a:r>
            <a:endParaRPr lang="pt-PT" sz="2800" dirty="0">
              <a:solidFill>
                <a:schemeClr val="tx1">
                  <a:lumMod val="65000"/>
                  <a:lumOff val="35000"/>
                </a:schemeClr>
              </a:solidFill>
              <a:latin typeface="+mj-lt"/>
            </a:endParaRPr>
          </a:p>
        </p:txBody>
      </p:sp>
    </p:spTree>
    <p:extLst>
      <p:ext uri="{BB962C8B-B14F-4D97-AF65-F5344CB8AC3E}">
        <p14:creationId xmlns:p14="http://schemas.microsoft.com/office/powerpoint/2010/main" val="29870738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pt-PT" dirty="0" smtClean="0"/>
              <a:t>Cross-Validation</a:t>
            </a:r>
            <a:endParaRPr lang="pt-PT"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097280" y="1953310"/>
                <a:ext cx="10058400" cy="4023360"/>
              </a:xfrm>
            </p:spPr>
            <p:txBody>
              <a:bodyPr/>
              <a:lstStyle/>
              <a:p>
                <a:pPr>
                  <a:buFont typeface="Wingdings" panose="05000000000000000000" pitchFamily="2" charset="2"/>
                  <a:buChar char="Ø"/>
                </a:pPr>
                <a:r>
                  <a:rPr lang="en-GB" dirty="0" smtClean="0">
                    <a:latin typeface="+mj-lt"/>
                  </a:rPr>
                  <a:t> Rolling-forecast </a:t>
                </a:r>
                <a:r>
                  <a:rPr lang="en-GB" dirty="0">
                    <a:latin typeface="+mj-lt"/>
                  </a:rPr>
                  <a:t>origin in which you start with a subset of data for training and use the next few observations as the test set. After each test set you add the observations to the train set and repeat the </a:t>
                </a:r>
                <a:r>
                  <a:rPr lang="en-GB" dirty="0" smtClean="0">
                    <a:latin typeface="+mj-lt"/>
                  </a:rPr>
                  <a:t>process</a:t>
                </a:r>
              </a:p>
              <a:p>
                <a:pPr>
                  <a:buFont typeface="Wingdings" panose="05000000000000000000" pitchFamily="2" charset="2"/>
                  <a:buChar char="Ø"/>
                </a:pPr>
                <a:r>
                  <a:rPr lang="en-GB" dirty="0" smtClean="0"/>
                  <a:t> More </a:t>
                </a:r>
                <a:r>
                  <a:rPr lang="en-GB" dirty="0"/>
                  <a:t>robust model and reduces the chance of </a:t>
                </a:r>
                <a:r>
                  <a:rPr lang="en-GB" dirty="0" smtClean="0"/>
                  <a:t>overfitting</a:t>
                </a:r>
              </a:p>
              <a:p>
                <a:pPr>
                  <a:buFont typeface="Wingdings" panose="05000000000000000000" pitchFamily="2" charset="2"/>
                  <a:buChar char="Ø"/>
                </a:pPr>
                <a:endParaRPr lang="en-GB" dirty="0">
                  <a:latin typeface="+mj-lt"/>
                </a:endParaRPr>
              </a:p>
              <a:p>
                <a:pPr>
                  <a:buFont typeface="Wingdings" panose="05000000000000000000" pitchFamily="2" charset="2"/>
                  <a:buChar char="Ø"/>
                </a:pPr>
                <a:endParaRPr lang="en-GB" dirty="0" smtClean="0">
                  <a:latin typeface="+mj-lt"/>
                </a:endParaRPr>
              </a:p>
              <a:p>
                <a:pPr>
                  <a:buFont typeface="Wingdings" panose="05000000000000000000" pitchFamily="2" charset="2"/>
                  <a:buChar char="Ø"/>
                </a:pPr>
                <a:endParaRPr lang="en-GB" dirty="0">
                  <a:latin typeface="+mj-lt"/>
                </a:endParaRPr>
              </a:p>
              <a:p>
                <a:pPr>
                  <a:buFont typeface="Wingdings" panose="05000000000000000000" pitchFamily="2" charset="2"/>
                  <a:buChar char="Ø"/>
                </a:pPr>
                <a:endParaRPr lang="en-GB" dirty="0" smtClean="0">
                  <a:latin typeface="+mj-lt"/>
                </a:endParaRPr>
              </a:p>
              <a:p>
                <a:pPr>
                  <a:buFont typeface="Wingdings" panose="05000000000000000000" pitchFamily="2" charset="2"/>
                  <a:buChar char="Ø"/>
                </a:pPr>
                <a:r>
                  <a:rPr lang="en-GB" dirty="0" smtClean="0"/>
                  <a:t> </a:t>
                </a:r>
                <a:r>
                  <a:rPr lang="en-GB" dirty="0" smtClean="0">
                    <a:latin typeface="+mj-lt"/>
                  </a:rPr>
                  <a:t>Model </a:t>
                </a:r>
                <a:r>
                  <a:rPr lang="en-GB" dirty="0">
                    <a:latin typeface="+mj-lt"/>
                  </a:rPr>
                  <a:t>with lowest MSE was SARIMA </a:t>
                </a:r>
                <a:r>
                  <a:rPr lang="en-GB" dirty="0" smtClean="0">
                    <a:latin typeface="+mj-lt"/>
                  </a:rPr>
                  <a:t>model (</a:t>
                </a:r>
                <a:r>
                  <a:rPr lang="en-GB" dirty="0">
                    <a:latin typeface="+mj-lt"/>
                  </a:rPr>
                  <a:t>0,0,10)(</a:t>
                </a:r>
                <a:r>
                  <a:rPr lang="en-GB" dirty="0" smtClean="0">
                    <a:latin typeface="+mj-lt"/>
                  </a:rPr>
                  <a:t>0,1,3)12, </a:t>
                </a:r>
                <a:r>
                  <a:rPr lang="en-GB" dirty="0">
                    <a:latin typeface="+mj-lt"/>
                  </a:rPr>
                  <a:t>although all the CV instances had similar results with the difference being minimal (max difference of </a:t>
                </a:r>
                <a14:m>
                  <m:oMath xmlns:m="http://schemas.openxmlformats.org/officeDocument/2006/math">
                    <m:r>
                      <a:rPr lang="en-GB" i="1">
                        <a:latin typeface="+mj-lt"/>
                      </a:rPr>
                      <m:t>±0.05</m:t>
                    </m:r>
                  </m:oMath>
                </a14:m>
                <a:r>
                  <a:rPr lang="en-GB" dirty="0">
                    <a:latin typeface="+mj-lt"/>
                  </a:rPr>
                  <a:t>).</a:t>
                </a:r>
                <a:endParaRPr lang="pt-PT" dirty="0">
                  <a:latin typeface="+mj-lt"/>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1097280" y="1953310"/>
                <a:ext cx="10058400" cy="4023360"/>
              </a:xfrm>
              <a:blipFill>
                <a:blip r:embed="rId3"/>
                <a:stretch>
                  <a:fillRect l="-1455" t="-1515" r="-2061"/>
                </a:stretch>
              </a:blipFill>
            </p:spPr>
            <p:txBody>
              <a:bodyPr/>
              <a:lstStyle/>
              <a:p>
                <a:r>
                  <a:rPr lang="pt-PT">
                    <a:noFill/>
                  </a:rPr>
                  <a:t> </a:t>
                </a:r>
              </a:p>
            </p:txBody>
          </p:sp>
        </mc:Fallback>
      </mc:AlternateContent>
      <p:pic>
        <p:nvPicPr>
          <p:cNvPr id="5" name="Picture 4"/>
          <p:cNvPicPr/>
          <p:nvPr/>
        </p:nvPicPr>
        <p:blipFill>
          <a:blip r:embed="rId4">
            <a:extLst>
              <a:ext uri="{28A0092B-C50C-407E-A947-70E740481C1C}">
                <a14:useLocalDpi xmlns:a14="http://schemas.microsoft.com/office/drawing/2010/main" val="0"/>
              </a:ext>
            </a:extLst>
          </a:blip>
          <a:stretch>
            <a:fillRect/>
          </a:stretch>
        </p:blipFill>
        <p:spPr>
          <a:xfrm>
            <a:off x="3248025" y="3346238"/>
            <a:ext cx="5725646" cy="1772609"/>
          </a:xfrm>
          <a:prstGeom prst="rect">
            <a:avLst/>
          </a:prstGeom>
        </p:spPr>
      </p:pic>
    </p:spTree>
    <p:extLst>
      <p:ext uri="{BB962C8B-B14F-4D97-AF65-F5344CB8AC3E}">
        <p14:creationId xmlns:p14="http://schemas.microsoft.com/office/powerpoint/2010/main" val="410435954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Forecasting using Cross-validation with SARIMA model (3,0,0)(0,1,1)12</a:t>
            </a:r>
            <a:endParaRPr lang="pt-PT" dirty="0"/>
          </a:p>
        </p:txBody>
      </p:sp>
      <p:pic>
        <p:nvPicPr>
          <p:cNvPr id="6" name="Content Placeholder 5"/>
          <p:cNvPicPr>
            <a:picLocks noGrp="1"/>
          </p:cNvPicPr>
          <p:nvPr>
            <p:ph idx="1"/>
          </p:nvPr>
        </p:nvPicPr>
        <p:blipFill>
          <a:blip r:embed="rId3" cstate="print">
            <a:extLst>
              <a:ext uri="{28A0092B-C50C-407E-A947-70E740481C1C}">
                <a14:useLocalDpi xmlns:a14="http://schemas.microsoft.com/office/drawing/2010/main" val="0"/>
              </a:ext>
            </a:extLst>
          </a:blip>
          <a:stretch>
            <a:fillRect/>
          </a:stretch>
        </p:blipFill>
        <p:spPr>
          <a:xfrm>
            <a:off x="3398698" y="2171614"/>
            <a:ext cx="5454930" cy="3372023"/>
          </a:xfrm>
          <a:prstGeom prst="rect">
            <a:avLst/>
          </a:prstGeom>
        </p:spPr>
      </p:pic>
    </p:spTree>
    <p:extLst>
      <p:ext uri="{BB962C8B-B14F-4D97-AF65-F5344CB8AC3E}">
        <p14:creationId xmlns:p14="http://schemas.microsoft.com/office/powerpoint/2010/main" val="428070727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dirty="0" smtClean="0"/>
              <a:t>Conclusion</a:t>
            </a:r>
            <a:endParaRPr lang="pt-PT" dirty="0"/>
          </a:p>
        </p:txBody>
      </p:sp>
      <p:sp>
        <p:nvSpPr>
          <p:cNvPr id="3" name="Content Placeholder 2"/>
          <p:cNvSpPr>
            <a:spLocks noGrp="1"/>
          </p:cNvSpPr>
          <p:nvPr>
            <p:ph idx="1"/>
          </p:nvPr>
        </p:nvSpPr>
        <p:spPr>
          <a:xfrm>
            <a:off x="1097280" y="2051922"/>
            <a:ext cx="10058400" cy="4023360"/>
          </a:xfrm>
        </p:spPr>
        <p:txBody>
          <a:bodyPr/>
          <a:lstStyle/>
          <a:p>
            <a:pPr>
              <a:buFont typeface="Wingdings" panose="05000000000000000000" pitchFamily="2" charset="2"/>
              <a:buChar char="Ø"/>
            </a:pPr>
            <a:r>
              <a:rPr lang="pt-PT" dirty="0"/>
              <a:t> </a:t>
            </a:r>
            <a:r>
              <a:rPr lang="pt-PT" dirty="0" smtClean="0">
                <a:latin typeface="+mj-lt"/>
              </a:rPr>
              <a:t>EDA </a:t>
            </a:r>
            <a:r>
              <a:rPr lang="en-GB" dirty="0" smtClean="0">
                <a:latin typeface="+mj-lt"/>
              </a:rPr>
              <a:t>showed </a:t>
            </a:r>
            <a:r>
              <a:rPr lang="en-GB" dirty="0">
                <a:latin typeface="+mj-lt"/>
              </a:rPr>
              <a:t>strong yearly seasonality and a slight upward </a:t>
            </a:r>
            <a:r>
              <a:rPr lang="en-GB" dirty="0" smtClean="0">
                <a:latin typeface="+mj-lt"/>
              </a:rPr>
              <a:t>trend</a:t>
            </a:r>
          </a:p>
          <a:p>
            <a:pPr>
              <a:buFont typeface="Wingdings" panose="05000000000000000000" pitchFamily="2" charset="2"/>
              <a:buChar char="Ø"/>
            </a:pPr>
            <a:r>
              <a:rPr lang="en-GB" dirty="0" smtClean="0">
                <a:latin typeface="+mj-lt"/>
              </a:rPr>
              <a:t> Forecasting </a:t>
            </a:r>
            <a:r>
              <a:rPr lang="en-GB" dirty="0">
                <a:latin typeface="+mj-lt"/>
              </a:rPr>
              <a:t>methods utilized showed similar results, which after evaluating each model the results showed high accuracy with low error </a:t>
            </a:r>
            <a:r>
              <a:rPr lang="en-GB" dirty="0" smtClean="0">
                <a:latin typeface="+mj-lt"/>
              </a:rPr>
              <a:t>values</a:t>
            </a:r>
          </a:p>
          <a:p>
            <a:pPr>
              <a:buFont typeface="Wingdings" panose="05000000000000000000" pitchFamily="2" charset="2"/>
              <a:buChar char="Ø"/>
            </a:pPr>
            <a:r>
              <a:rPr lang="en-GB" dirty="0" smtClean="0">
                <a:latin typeface="+mj-lt"/>
              </a:rPr>
              <a:t> The SARIMA model </a:t>
            </a:r>
            <a:r>
              <a:rPr lang="en-GB" dirty="0">
                <a:latin typeface="+mj-lt"/>
              </a:rPr>
              <a:t>(3,0,0)(0,1,1)12 was considered the best </a:t>
            </a:r>
            <a:r>
              <a:rPr lang="en-GB" dirty="0" smtClean="0">
                <a:latin typeface="+mj-lt"/>
              </a:rPr>
              <a:t>performing of the SARIMA models </a:t>
            </a:r>
            <a:r>
              <a:rPr lang="en-GB" dirty="0">
                <a:latin typeface="+mj-lt"/>
              </a:rPr>
              <a:t>since it had the lowest BIC combined with being in the lower-end of the spectrum in terms of errors </a:t>
            </a:r>
            <a:endParaRPr lang="en-GB" dirty="0" smtClean="0">
              <a:latin typeface="+mj-lt"/>
            </a:endParaRPr>
          </a:p>
          <a:p>
            <a:pPr>
              <a:buFont typeface="Wingdings" panose="05000000000000000000" pitchFamily="2" charset="2"/>
              <a:buChar char="Ø"/>
            </a:pPr>
            <a:r>
              <a:rPr lang="en-GB" dirty="0" smtClean="0">
                <a:latin typeface="+mj-lt"/>
              </a:rPr>
              <a:t> The </a:t>
            </a:r>
            <a:r>
              <a:rPr lang="en-GB" dirty="0">
                <a:latin typeface="+mj-lt"/>
              </a:rPr>
              <a:t>exponential smoothing forecasting showed slightly smaller MSE values than the SARIMA </a:t>
            </a:r>
            <a:r>
              <a:rPr lang="en-GB" dirty="0" smtClean="0">
                <a:latin typeface="+mj-lt"/>
              </a:rPr>
              <a:t>models, with the best performing model using the multiplicative method</a:t>
            </a:r>
          </a:p>
          <a:p>
            <a:pPr>
              <a:buFont typeface="Wingdings" panose="05000000000000000000" pitchFamily="2" charset="2"/>
              <a:buChar char="Ø"/>
            </a:pPr>
            <a:r>
              <a:rPr lang="en-GB" dirty="0">
                <a:latin typeface="+mj-lt"/>
              </a:rPr>
              <a:t> </a:t>
            </a:r>
            <a:r>
              <a:rPr lang="en-GB" dirty="0" smtClean="0">
                <a:latin typeface="+mj-lt"/>
              </a:rPr>
              <a:t>CV </a:t>
            </a:r>
            <a:r>
              <a:rPr lang="en-GB" dirty="0">
                <a:latin typeface="+mj-lt"/>
              </a:rPr>
              <a:t>gave contradictory results since although the Cross-validation of the SARIMA models gave slightly lower errors, the CV in exponential smoothing had no affect or in the more specific case of multiplicative ES gave higher errors. </a:t>
            </a:r>
            <a:endParaRPr lang="en-GB" dirty="0">
              <a:latin typeface="+mj-lt"/>
            </a:endParaRPr>
          </a:p>
          <a:p>
            <a:pPr>
              <a:buFont typeface="Wingdings" panose="05000000000000000000" pitchFamily="2" charset="2"/>
              <a:buChar char="Ø"/>
            </a:pPr>
            <a:endParaRPr lang="pt-PT" dirty="0"/>
          </a:p>
        </p:txBody>
      </p:sp>
    </p:spTree>
    <p:extLst>
      <p:ext uri="{BB962C8B-B14F-4D97-AF65-F5344CB8AC3E}">
        <p14:creationId xmlns:p14="http://schemas.microsoft.com/office/powerpoint/2010/main" val="1546673296"/>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Cambria-Calibri">
      <a:majorFont>
        <a:latin typeface="Cambria" panose="02040503050406030204"/>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911</TotalTime>
  <Words>1640</Words>
  <Application>Microsoft Office PowerPoint</Application>
  <PresentationFormat>Widescreen</PresentationFormat>
  <Paragraphs>109</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Wingdings</vt:lpstr>
      <vt:lpstr>Retrospect</vt:lpstr>
      <vt:lpstr>Analysis and forecast of the Earth Surface temperature  </vt:lpstr>
      <vt:lpstr>Pre-Analysis</vt:lpstr>
      <vt:lpstr>Explaratory Data Analysis</vt:lpstr>
      <vt:lpstr>PowerPoint Presentation</vt:lpstr>
      <vt:lpstr>Methods of Decomposition </vt:lpstr>
      <vt:lpstr>ADF &amp; KPSS</vt:lpstr>
      <vt:lpstr>Forecasting</vt:lpstr>
      <vt:lpstr>SARIMA</vt:lpstr>
      <vt:lpstr>Evaluation </vt:lpstr>
      <vt:lpstr>Diagnostics and out of-point forecasting of SARIMA (3,0,0)(0,1,1)12 </vt:lpstr>
      <vt:lpstr>Exponential Smoothing</vt:lpstr>
      <vt:lpstr>PowerPoint Presentation</vt:lpstr>
      <vt:lpstr>Cross-Validation</vt:lpstr>
      <vt:lpstr>Forecasting using Cross-validation with SARIMA model (3,0,0)(0,1,1)12</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Analysis and forecast of the Earth Surface temperature</dc:title>
  <dc:creator>pipinhojp@gmail.com</dc:creator>
  <cp:lastModifiedBy>pipinhojp@gmail.com</cp:lastModifiedBy>
  <cp:revision>22</cp:revision>
  <dcterms:created xsi:type="dcterms:W3CDTF">2024-02-01T17:06:50Z</dcterms:created>
  <dcterms:modified xsi:type="dcterms:W3CDTF">2024-02-02T08:18:27Z</dcterms:modified>
</cp:coreProperties>
</file>