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62" r:id="rId2"/>
    <p:sldId id="257" r:id="rId3"/>
    <p:sldId id="258" r:id="rId4"/>
    <p:sldId id="260" r:id="rId5"/>
    <p:sldId id="266" r:id="rId6"/>
    <p:sldId id="259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62562" autoAdjust="0"/>
  </p:normalViewPr>
  <p:slideViewPr>
    <p:cSldViewPr snapToGrid="0">
      <p:cViewPr varScale="1">
        <p:scale>
          <a:sx n="45" d="100"/>
          <a:sy n="45" d="100"/>
        </p:scale>
        <p:origin x="13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1BAC7B-4C25-48EE-AFA8-1994C44810F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48419D1-40D4-46A1-A0C6-2765EA0228AB}">
      <dgm:prSet/>
      <dgm:spPr/>
      <dgm:t>
        <a:bodyPr/>
        <a:lstStyle/>
        <a:p>
          <a:r>
            <a:rPr lang="en-US"/>
            <a:t>Training Test Split</a:t>
          </a:r>
        </a:p>
      </dgm:t>
    </dgm:pt>
    <dgm:pt modelId="{99DB08CC-D96F-4F5F-AA1F-693D8DB87B96}" type="parTrans" cxnId="{64FE7C08-C260-4B63-A4FC-60B5B64D59CC}">
      <dgm:prSet/>
      <dgm:spPr/>
      <dgm:t>
        <a:bodyPr/>
        <a:lstStyle/>
        <a:p>
          <a:endParaRPr lang="en-US"/>
        </a:p>
      </dgm:t>
    </dgm:pt>
    <dgm:pt modelId="{8990CD7D-A7EB-4F79-AE42-6920F0446089}" type="sibTrans" cxnId="{64FE7C08-C260-4B63-A4FC-60B5B64D59CC}">
      <dgm:prSet/>
      <dgm:spPr/>
      <dgm:t>
        <a:bodyPr/>
        <a:lstStyle/>
        <a:p>
          <a:endParaRPr lang="en-US"/>
        </a:p>
      </dgm:t>
    </dgm:pt>
    <dgm:pt modelId="{C39FC823-44D6-4D40-9246-C6E538DC5E2B}">
      <dgm:prSet/>
      <dgm:spPr/>
      <dgm:t>
        <a:bodyPr/>
        <a:lstStyle/>
        <a:p>
          <a:r>
            <a:rPr lang="en-US"/>
            <a:t>70:30 Split </a:t>
          </a:r>
        </a:p>
      </dgm:t>
    </dgm:pt>
    <dgm:pt modelId="{95BD3300-5929-4BBC-B399-527E3998145D}" type="parTrans" cxnId="{01A2527D-A918-476C-AC17-EDE202D137FB}">
      <dgm:prSet/>
      <dgm:spPr/>
      <dgm:t>
        <a:bodyPr/>
        <a:lstStyle/>
        <a:p>
          <a:endParaRPr lang="en-US"/>
        </a:p>
      </dgm:t>
    </dgm:pt>
    <dgm:pt modelId="{D3D55CBD-F5F0-4474-89B2-367E18BDF5A2}" type="sibTrans" cxnId="{01A2527D-A918-476C-AC17-EDE202D137FB}">
      <dgm:prSet/>
      <dgm:spPr/>
      <dgm:t>
        <a:bodyPr/>
        <a:lstStyle/>
        <a:p>
          <a:endParaRPr lang="en-US"/>
        </a:p>
      </dgm:t>
    </dgm:pt>
    <dgm:pt modelId="{E853CECB-51B2-4AB4-A95C-6E2ACCD6802D}">
      <dgm:prSet/>
      <dgm:spPr/>
      <dgm:t>
        <a:bodyPr/>
        <a:lstStyle/>
        <a:p>
          <a:r>
            <a:rPr lang="en-US"/>
            <a:t>LOOCV</a:t>
          </a:r>
        </a:p>
      </dgm:t>
    </dgm:pt>
    <dgm:pt modelId="{0DC91241-B942-404E-8DAC-6F0AF2EFD073}" type="parTrans" cxnId="{5D472029-A0EA-4E06-BBD6-00E7A89FFDFD}">
      <dgm:prSet/>
      <dgm:spPr/>
      <dgm:t>
        <a:bodyPr/>
        <a:lstStyle/>
        <a:p>
          <a:endParaRPr lang="en-US"/>
        </a:p>
      </dgm:t>
    </dgm:pt>
    <dgm:pt modelId="{E81BED91-2E57-4E1D-8E22-694167F4E1F9}" type="sibTrans" cxnId="{5D472029-A0EA-4E06-BBD6-00E7A89FFDFD}">
      <dgm:prSet/>
      <dgm:spPr/>
      <dgm:t>
        <a:bodyPr/>
        <a:lstStyle/>
        <a:p>
          <a:endParaRPr lang="en-US"/>
        </a:p>
      </dgm:t>
    </dgm:pt>
    <dgm:pt modelId="{175B4D08-3F60-4D9E-858A-B3AD87A3CEE7}">
      <dgm:prSet/>
      <dgm:spPr/>
      <dgm:t>
        <a:bodyPr/>
        <a:lstStyle/>
        <a:p>
          <a:r>
            <a:rPr lang="en-US"/>
            <a:t>N - 1</a:t>
          </a:r>
        </a:p>
      </dgm:t>
    </dgm:pt>
    <dgm:pt modelId="{2EE71F0A-E0AF-40F7-BB58-BCD3CC638C67}" type="parTrans" cxnId="{D9B431D3-2B91-41F5-82A9-5C02A131CE68}">
      <dgm:prSet/>
      <dgm:spPr/>
      <dgm:t>
        <a:bodyPr/>
        <a:lstStyle/>
        <a:p>
          <a:endParaRPr lang="en-US"/>
        </a:p>
      </dgm:t>
    </dgm:pt>
    <dgm:pt modelId="{F104FA25-481B-46EE-9EF3-85C59657208B}" type="sibTrans" cxnId="{D9B431D3-2B91-41F5-82A9-5C02A131CE68}">
      <dgm:prSet/>
      <dgm:spPr/>
      <dgm:t>
        <a:bodyPr/>
        <a:lstStyle/>
        <a:p>
          <a:endParaRPr lang="en-US"/>
        </a:p>
      </dgm:t>
    </dgm:pt>
    <dgm:pt modelId="{76FED8A2-A73F-4C7D-B8D5-D5F36017AC3E}">
      <dgm:prSet/>
      <dgm:spPr/>
      <dgm:t>
        <a:bodyPr/>
        <a:lstStyle/>
        <a:p>
          <a:r>
            <a:rPr lang="en-US"/>
            <a:t>K-Fold CV</a:t>
          </a:r>
        </a:p>
      </dgm:t>
    </dgm:pt>
    <dgm:pt modelId="{7227FFCE-FE0E-41B3-BAC9-8101F7BAABDB}" type="parTrans" cxnId="{881E9945-1665-4862-B92A-5B7DC2FDA150}">
      <dgm:prSet/>
      <dgm:spPr/>
      <dgm:t>
        <a:bodyPr/>
        <a:lstStyle/>
        <a:p>
          <a:endParaRPr lang="en-US"/>
        </a:p>
      </dgm:t>
    </dgm:pt>
    <dgm:pt modelId="{57DB4C16-EA11-4B74-8713-77202704CEA2}" type="sibTrans" cxnId="{881E9945-1665-4862-B92A-5B7DC2FDA150}">
      <dgm:prSet/>
      <dgm:spPr/>
      <dgm:t>
        <a:bodyPr/>
        <a:lstStyle/>
        <a:p>
          <a:endParaRPr lang="en-US"/>
        </a:p>
      </dgm:t>
    </dgm:pt>
    <dgm:pt modelId="{1035496E-11DA-40A6-B737-90DD8C1240C3}">
      <dgm:prSet/>
      <dgm:spPr/>
      <dgm:t>
        <a:bodyPr/>
        <a:lstStyle/>
        <a:p>
          <a:r>
            <a:rPr lang="en-US"/>
            <a:t>N/K Groups</a:t>
          </a:r>
        </a:p>
      </dgm:t>
    </dgm:pt>
    <dgm:pt modelId="{A14EA629-8539-4A86-89C9-A7FAD55B21FF}" type="parTrans" cxnId="{6A7A28AA-6F88-4B0C-B234-5AE0D65CDAE7}">
      <dgm:prSet/>
      <dgm:spPr/>
      <dgm:t>
        <a:bodyPr/>
        <a:lstStyle/>
        <a:p>
          <a:endParaRPr lang="en-US"/>
        </a:p>
      </dgm:t>
    </dgm:pt>
    <dgm:pt modelId="{8D685284-4547-40A5-A054-D4FAA47BD994}" type="sibTrans" cxnId="{6A7A28AA-6F88-4B0C-B234-5AE0D65CDAE7}">
      <dgm:prSet/>
      <dgm:spPr/>
      <dgm:t>
        <a:bodyPr/>
        <a:lstStyle/>
        <a:p>
          <a:endParaRPr lang="en-US"/>
        </a:p>
      </dgm:t>
    </dgm:pt>
    <dgm:pt modelId="{4FE6BAAA-DB81-41B4-8023-9C2F0EE71433}">
      <dgm:prSet/>
      <dgm:spPr/>
      <dgm:t>
        <a:bodyPr/>
        <a:lstStyle/>
        <a:p>
          <a:r>
            <a:rPr lang="en-US"/>
            <a:t>K = 10</a:t>
          </a:r>
        </a:p>
      </dgm:t>
    </dgm:pt>
    <dgm:pt modelId="{2EEFB8AA-5CC0-4FFD-A1FA-157034F2D62C}" type="parTrans" cxnId="{17AA07EF-F809-4A61-B4BA-9738E6905844}">
      <dgm:prSet/>
      <dgm:spPr/>
      <dgm:t>
        <a:bodyPr/>
        <a:lstStyle/>
        <a:p>
          <a:endParaRPr lang="en-US"/>
        </a:p>
      </dgm:t>
    </dgm:pt>
    <dgm:pt modelId="{4D4538C1-38B3-4382-A4C9-04525A061571}" type="sibTrans" cxnId="{17AA07EF-F809-4A61-B4BA-9738E6905844}">
      <dgm:prSet/>
      <dgm:spPr/>
      <dgm:t>
        <a:bodyPr/>
        <a:lstStyle/>
        <a:p>
          <a:endParaRPr lang="en-US"/>
        </a:p>
      </dgm:t>
    </dgm:pt>
    <dgm:pt modelId="{D5DB5365-EBD2-4FD0-9530-BBE3590558C9}" type="pres">
      <dgm:prSet presAssocID="{2B1BAC7B-4C25-48EE-AFA8-1994C44810FC}" presName="linear" presStyleCnt="0">
        <dgm:presLayoutVars>
          <dgm:dir/>
          <dgm:animLvl val="lvl"/>
          <dgm:resizeHandles val="exact"/>
        </dgm:presLayoutVars>
      </dgm:prSet>
      <dgm:spPr/>
    </dgm:pt>
    <dgm:pt modelId="{25D14E3D-F14F-4694-A7BF-767977157FFD}" type="pres">
      <dgm:prSet presAssocID="{B48419D1-40D4-46A1-A0C6-2765EA0228AB}" presName="parentLin" presStyleCnt="0"/>
      <dgm:spPr/>
    </dgm:pt>
    <dgm:pt modelId="{9FEEF599-88AB-4958-ABE9-91F3C5BE97D3}" type="pres">
      <dgm:prSet presAssocID="{B48419D1-40D4-46A1-A0C6-2765EA0228AB}" presName="parentLeftMargin" presStyleLbl="node1" presStyleIdx="0" presStyleCnt="3"/>
      <dgm:spPr/>
    </dgm:pt>
    <dgm:pt modelId="{37AB265D-1304-4ADB-BF67-A116A8A7764D}" type="pres">
      <dgm:prSet presAssocID="{B48419D1-40D4-46A1-A0C6-2765EA0228A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320947-B2D5-4ACC-A283-4641A5742875}" type="pres">
      <dgm:prSet presAssocID="{B48419D1-40D4-46A1-A0C6-2765EA0228AB}" presName="negativeSpace" presStyleCnt="0"/>
      <dgm:spPr/>
    </dgm:pt>
    <dgm:pt modelId="{21157F58-3F66-47B5-83C0-1A6A61B3E6AA}" type="pres">
      <dgm:prSet presAssocID="{B48419D1-40D4-46A1-A0C6-2765EA0228AB}" presName="childText" presStyleLbl="conFgAcc1" presStyleIdx="0" presStyleCnt="3">
        <dgm:presLayoutVars>
          <dgm:bulletEnabled val="1"/>
        </dgm:presLayoutVars>
      </dgm:prSet>
      <dgm:spPr/>
    </dgm:pt>
    <dgm:pt modelId="{A093C2B4-AF0C-4135-9509-A350CD478DA0}" type="pres">
      <dgm:prSet presAssocID="{8990CD7D-A7EB-4F79-AE42-6920F0446089}" presName="spaceBetweenRectangles" presStyleCnt="0"/>
      <dgm:spPr/>
    </dgm:pt>
    <dgm:pt modelId="{49E139DA-1DB7-416B-AFE8-4796BBD0D38C}" type="pres">
      <dgm:prSet presAssocID="{E853CECB-51B2-4AB4-A95C-6E2ACCD6802D}" presName="parentLin" presStyleCnt="0"/>
      <dgm:spPr/>
    </dgm:pt>
    <dgm:pt modelId="{572C85B8-2BBD-40F9-9987-A333521EF4F8}" type="pres">
      <dgm:prSet presAssocID="{E853CECB-51B2-4AB4-A95C-6E2ACCD6802D}" presName="parentLeftMargin" presStyleLbl="node1" presStyleIdx="0" presStyleCnt="3"/>
      <dgm:spPr/>
    </dgm:pt>
    <dgm:pt modelId="{CBE72FB2-5F4A-4AD3-B2B4-9B77E4E69764}" type="pres">
      <dgm:prSet presAssocID="{E853CECB-51B2-4AB4-A95C-6E2ACCD6802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D7854C9-F4D2-4DB9-81AE-9497D9A3C648}" type="pres">
      <dgm:prSet presAssocID="{E853CECB-51B2-4AB4-A95C-6E2ACCD6802D}" presName="negativeSpace" presStyleCnt="0"/>
      <dgm:spPr/>
    </dgm:pt>
    <dgm:pt modelId="{8E95AA4B-6BE6-4252-AC31-6583B6858508}" type="pres">
      <dgm:prSet presAssocID="{E853CECB-51B2-4AB4-A95C-6E2ACCD6802D}" presName="childText" presStyleLbl="conFgAcc1" presStyleIdx="1" presStyleCnt="3">
        <dgm:presLayoutVars>
          <dgm:bulletEnabled val="1"/>
        </dgm:presLayoutVars>
      </dgm:prSet>
      <dgm:spPr/>
    </dgm:pt>
    <dgm:pt modelId="{994F30B6-58C7-473B-ACBC-9228EDFA3F1A}" type="pres">
      <dgm:prSet presAssocID="{E81BED91-2E57-4E1D-8E22-694167F4E1F9}" presName="spaceBetweenRectangles" presStyleCnt="0"/>
      <dgm:spPr/>
    </dgm:pt>
    <dgm:pt modelId="{010A0FA8-B030-41ED-85FD-D9BBA453E271}" type="pres">
      <dgm:prSet presAssocID="{76FED8A2-A73F-4C7D-B8D5-D5F36017AC3E}" presName="parentLin" presStyleCnt="0"/>
      <dgm:spPr/>
    </dgm:pt>
    <dgm:pt modelId="{0EB8E4B7-B0BB-47F2-BF24-1803BB8E5F35}" type="pres">
      <dgm:prSet presAssocID="{76FED8A2-A73F-4C7D-B8D5-D5F36017AC3E}" presName="parentLeftMargin" presStyleLbl="node1" presStyleIdx="1" presStyleCnt="3"/>
      <dgm:spPr/>
    </dgm:pt>
    <dgm:pt modelId="{CD86A29C-CF96-4C15-BAF9-FF498F939870}" type="pres">
      <dgm:prSet presAssocID="{76FED8A2-A73F-4C7D-B8D5-D5F36017AC3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003703F-8FF7-46E0-9319-E4C7B7F520E4}" type="pres">
      <dgm:prSet presAssocID="{76FED8A2-A73F-4C7D-B8D5-D5F36017AC3E}" presName="negativeSpace" presStyleCnt="0"/>
      <dgm:spPr/>
    </dgm:pt>
    <dgm:pt modelId="{6A39C318-5BD8-46B0-AB48-83144C6FFCB2}" type="pres">
      <dgm:prSet presAssocID="{76FED8A2-A73F-4C7D-B8D5-D5F36017AC3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4FE7C08-C260-4B63-A4FC-60B5B64D59CC}" srcId="{2B1BAC7B-4C25-48EE-AFA8-1994C44810FC}" destId="{B48419D1-40D4-46A1-A0C6-2765EA0228AB}" srcOrd="0" destOrd="0" parTransId="{99DB08CC-D96F-4F5F-AA1F-693D8DB87B96}" sibTransId="{8990CD7D-A7EB-4F79-AE42-6920F0446089}"/>
    <dgm:cxn modelId="{33BAD319-EFCC-4817-9CEB-E6FCEA3BE75A}" type="presOf" srcId="{E853CECB-51B2-4AB4-A95C-6E2ACCD6802D}" destId="{572C85B8-2BBD-40F9-9987-A333521EF4F8}" srcOrd="0" destOrd="0" presId="urn:microsoft.com/office/officeart/2005/8/layout/list1"/>
    <dgm:cxn modelId="{538CC426-65FC-41DC-8A2F-E05E1F0DB37B}" type="presOf" srcId="{B48419D1-40D4-46A1-A0C6-2765EA0228AB}" destId="{9FEEF599-88AB-4958-ABE9-91F3C5BE97D3}" srcOrd="0" destOrd="0" presId="urn:microsoft.com/office/officeart/2005/8/layout/list1"/>
    <dgm:cxn modelId="{C9FA9828-693E-4C78-885D-245324515A81}" type="presOf" srcId="{175B4D08-3F60-4D9E-858A-B3AD87A3CEE7}" destId="{8E95AA4B-6BE6-4252-AC31-6583B6858508}" srcOrd="0" destOrd="0" presId="urn:microsoft.com/office/officeart/2005/8/layout/list1"/>
    <dgm:cxn modelId="{9C8FFA28-1B25-4BA7-B28A-EBAFF489D37C}" type="presOf" srcId="{76FED8A2-A73F-4C7D-B8D5-D5F36017AC3E}" destId="{CD86A29C-CF96-4C15-BAF9-FF498F939870}" srcOrd="1" destOrd="0" presId="urn:microsoft.com/office/officeart/2005/8/layout/list1"/>
    <dgm:cxn modelId="{5D472029-A0EA-4E06-BBD6-00E7A89FFDFD}" srcId="{2B1BAC7B-4C25-48EE-AFA8-1994C44810FC}" destId="{E853CECB-51B2-4AB4-A95C-6E2ACCD6802D}" srcOrd="1" destOrd="0" parTransId="{0DC91241-B942-404E-8DAC-6F0AF2EFD073}" sibTransId="{E81BED91-2E57-4E1D-8E22-694167F4E1F9}"/>
    <dgm:cxn modelId="{881E9945-1665-4862-B92A-5B7DC2FDA150}" srcId="{2B1BAC7B-4C25-48EE-AFA8-1994C44810FC}" destId="{76FED8A2-A73F-4C7D-B8D5-D5F36017AC3E}" srcOrd="2" destOrd="0" parTransId="{7227FFCE-FE0E-41B3-BAC9-8101F7BAABDB}" sibTransId="{57DB4C16-EA11-4B74-8713-77202704CEA2}"/>
    <dgm:cxn modelId="{01A2527D-A918-476C-AC17-EDE202D137FB}" srcId="{B48419D1-40D4-46A1-A0C6-2765EA0228AB}" destId="{C39FC823-44D6-4D40-9246-C6E538DC5E2B}" srcOrd="0" destOrd="0" parTransId="{95BD3300-5929-4BBC-B399-527E3998145D}" sibTransId="{D3D55CBD-F5F0-4474-89B2-367E18BDF5A2}"/>
    <dgm:cxn modelId="{A5FE6189-715A-43E4-93EA-E956465091E9}" type="presOf" srcId="{C39FC823-44D6-4D40-9246-C6E538DC5E2B}" destId="{21157F58-3F66-47B5-83C0-1A6A61B3E6AA}" srcOrd="0" destOrd="0" presId="urn:microsoft.com/office/officeart/2005/8/layout/list1"/>
    <dgm:cxn modelId="{1D50558B-B9BB-42D1-8378-1CCC6F74D0C9}" type="presOf" srcId="{E853CECB-51B2-4AB4-A95C-6E2ACCD6802D}" destId="{CBE72FB2-5F4A-4AD3-B2B4-9B77E4E69764}" srcOrd="1" destOrd="0" presId="urn:microsoft.com/office/officeart/2005/8/layout/list1"/>
    <dgm:cxn modelId="{6A7A28AA-6F88-4B0C-B234-5AE0D65CDAE7}" srcId="{76FED8A2-A73F-4C7D-B8D5-D5F36017AC3E}" destId="{1035496E-11DA-40A6-B737-90DD8C1240C3}" srcOrd="0" destOrd="0" parTransId="{A14EA629-8539-4A86-89C9-A7FAD55B21FF}" sibTransId="{8D685284-4547-40A5-A054-D4FAA47BD994}"/>
    <dgm:cxn modelId="{D96848B6-068C-4827-91BB-65624B737C5D}" type="presOf" srcId="{B48419D1-40D4-46A1-A0C6-2765EA0228AB}" destId="{37AB265D-1304-4ADB-BF67-A116A8A7764D}" srcOrd="1" destOrd="0" presId="urn:microsoft.com/office/officeart/2005/8/layout/list1"/>
    <dgm:cxn modelId="{3302C7BD-873B-4C04-A425-B8D4F0E1F014}" type="presOf" srcId="{2B1BAC7B-4C25-48EE-AFA8-1994C44810FC}" destId="{D5DB5365-EBD2-4FD0-9530-BBE3590558C9}" srcOrd="0" destOrd="0" presId="urn:microsoft.com/office/officeart/2005/8/layout/list1"/>
    <dgm:cxn modelId="{225F42C9-8040-4999-BA86-79CE2163CC9C}" type="presOf" srcId="{1035496E-11DA-40A6-B737-90DD8C1240C3}" destId="{6A39C318-5BD8-46B0-AB48-83144C6FFCB2}" srcOrd="0" destOrd="0" presId="urn:microsoft.com/office/officeart/2005/8/layout/list1"/>
    <dgm:cxn modelId="{D9B431D3-2B91-41F5-82A9-5C02A131CE68}" srcId="{E853CECB-51B2-4AB4-A95C-6E2ACCD6802D}" destId="{175B4D08-3F60-4D9E-858A-B3AD87A3CEE7}" srcOrd="0" destOrd="0" parTransId="{2EE71F0A-E0AF-40F7-BB58-BCD3CC638C67}" sibTransId="{F104FA25-481B-46EE-9EF3-85C59657208B}"/>
    <dgm:cxn modelId="{48D35AE4-1641-445D-939C-A8FDB6EF583C}" type="presOf" srcId="{76FED8A2-A73F-4C7D-B8D5-D5F36017AC3E}" destId="{0EB8E4B7-B0BB-47F2-BF24-1803BB8E5F35}" srcOrd="0" destOrd="0" presId="urn:microsoft.com/office/officeart/2005/8/layout/list1"/>
    <dgm:cxn modelId="{A715EFEE-A333-4CAF-BAA8-446A5C2141B4}" type="presOf" srcId="{4FE6BAAA-DB81-41B4-8023-9C2F0EE71433}" destId="{6A39C318-5BD8-46B0-AB48-83144C6FFCB2}" srcOrd="0" destOrd="1" presId="urn:microsoft.com/office/officeart/2005/8/layout/list1"/>
    <dgm:cxn modelId="{17AA07EF-F809-4A61-B4BA-9738E6905844}" srcId="{76FED8A2-A73F-4C7D-B8D5-D5F36017AC3E}" destId="{4FE6BAAA-DB81-41B4-8023-9C2F0EE71433}" srcOrd="1" destOrd="0" parTransId="{2EEFB8AA-5CC0-4FFD-A1FA-157034F2D62C}" sibTransId="{4D4538C1-38B3-4382-A4C9-04525A061571}"/>
    <dgm:cxn modelId="{A5B509B9-81E1-487B-8CA6-439DAB3D9411}" type="presParOf" srcId="{D5DB5365-EBD2-4FD0-9530-BBE3590558C9}" destId="{25D14E3D-F14F-4694-A7BF-767977157FFD}" srcOrd="0" destOrd="0" presId="urn:microsoft.com/office/officeart/2005/8/layout/list1"/>
    <dgm:cxn modelId="{9E4DA93B-D956-4E6E-A67C-AE6D448AE0AF}" type="presParOf" srcId="{25D14E3D-F14F-4694-A7BF-767977157FFD}" destId="{9FEEF599-88AB-4958-ABE9-91F3C5BE97D3}" srcOrd="0" destOrd="0" presId="urn:microsoft.com/office/officeart/2005/8/layout/list1"/>
    <dgm:cxn modelId="{2AAAC40E-F570-4194-838C-49A13141B661}" type="presParOf" srcId="{25D14E3D-F14F-4694-A7BF-767977157FFD}" destId="{37AB265D-1304-4ADB-BF67-A116A8A7764D}" srcOrd="1" destOrd="0" presId="urn:microsoft.com/office/officeart/2005/8/layout/list1"/>
    <dgm:cxn modelId="{80905B29-87E9-4981-BAEC-1634C33EB56B}" type="presParOf" srcId="{D5DB5365-EBD2-4FD0-9530-BBE3590558C9}" destId="{18320947-B2D5-4ACC-A283-4641A5742875}" srcOrd="1" destOrd="0" presId="urn:microsoft.com/office/officeart/2005/8/layout/list1"/>
    <dgm:cxn modelId="{C219B998-2463-4DDC-8952-1EB7BB36BB95}" type="presParOf" srcId="{D5DB5365-EBD2-4FD0-9530-BBE3590558C9}" destId="{21157F58-3F66-47B5-83C0-1A6A61B3E6AA}" srcOrd="2" destOrd="0" presId="urn:microsoft.com/office/officeart/2005/8/layout/list1"/>
    <dgm:cxn modelId="{1A39F69B-E08B-49CA-8EF1-4CD11DA0DE97}" type="presParOf" srcId="{D5DB5365-EBD2-4FD0-9530-BBE3590558C9}" destId="{A093C2B4-AF0C-4135-9509-A350CD478DA0}" srcOrd="3" destOrd="0" presId="urn:microsoft.com/office/officeart/2005/8/layout/list1"/>
    <dgm:cxn modelId="{8C2C9C41-2341-4EF5-924A-FD9680138AB8}" type="presParOf" srcId="{D5DB5365-EBD2-4FD0-9530-BBE3590558C9}" destId="{49E139DA-1DB7-416B-AFE8-4796BBD0D38C}" srcOrd="4" destOrd="0" presId="urn:microsoft.com/office/officeart/2005/8/layout/list1"/>
    <dgm:cxn modelId="{A023A440-D9D4-4A46-B971-D5F9A50859EE}" type="presParOf" srcId="{49E139DA-1DB7-416B-AFE8-4796BBD0D38C}" destId="{572C85B8-2BBD-40F9-9987-A333521EF4F8}" srcOrd="0" destOrd="0" presId="urn:microsoft.com/office/officeart/2005/8/layout/list1"/>
    <dgm:cxn modelId="{035105D7-C3D8-4232-A236-ACD600C6BFB1}" type="presParOf" srcId="{49E139DA-1DB7-416B-AFE8-4796BBD0D38C}" destId="{CBE72FB2-5F4A-4AD3-B2B4-9B77E4E69764}" srcOrd="1" destOrd="0" presId="urn:microsoft.com/office/officeart/2005/8/layout/list1"/>
    <dgm:cxn modelId="{F3611741-FA23-4A21-846B-A74AF52A611A}" type="presParOf" srcId="{D5DB5365-EBD2-4FD0-9530-BBE3590558C9}" destId="{1D7854C9-F4D2-4DB9-81AE-9497D9A3C648}" srcOrd="5" destOrd="0" presId="urn:microsoft.com/office/officeart/2005/8/layout/list1"/>
    <dgm:cxn modelId="{D2A2F1BE-C6C0-4F52-A808-DEC7E4208E3A}" type="presParOf" srcId="{D5DB5365-EBD2-4FD0-9530-BBE3590558C9}" destId="{8E95AA4B-6BE6-4252-AC31-6583B6858508}" srcOrd="6" destOrd="0" presId="urn:microsoft.com/office/officeart/2005/8/layout/list1"/>
    <dgm:cxn modelId="{868BC692-D7E3-42EA-AD05-EA8470C45002}" type="presParOf" srcId="{D5DB5365-EBD2-4FD0-9530-BBE3590558C9}" destId="{994F30B6-58C7-473B-ACBC-9228EDFA3F1A}" srcOrd="7" destOrd="0" presId="urn:microsoft.com/office/officeart/2005/8/layout/list1"/>
    <dgm:cxn modelId="{7AF77476-6B0E-4403-8BAB-BA52D4CA7112}" type="presParOf" srcId="{D5DB5365-EBD2-4FD0-9530-BBE3590558C9}" destId="{010A0FA8-B030-41ED-85FD-D9BBA453E271}" srcOrd="8" destOrd="0" presId="urn:microsoft.com/office/officeart/2005/8/layout/list1"/>
    <dgm:cxn modelId="{4A05D2D0-B76A-458F-B02A-06CC7A103866}" type="presParOf" srcId="{010A0FA8-B030-41ED-85FD-D9BBA453E271}" destId="{0EB8E4B7-B0BB-47F2-BF24-1803BB8E5F35}" srcOrd="0" destOrd="0" presId="urn:microsoft.com/office/officeart/2005/8/layout/list1"/>
    <dgm:cxn modelId="{5F5B1752-4426-4218-A969-ADE4117D138F}" type="presParOf" srcId="{010A0FA8-B030-41ED-85FD-D9BBA453E271}" destId="{CD86A29C-CF96-4C15-BAF9-FF498F939870}" srcOrd="1" destOrd="0" presId="urn:microsoft.com/office/officeart/2005/8/layout/list1"/>
    <dgm:cxn modelId="{C0A8C6EC-4CB3-4501-B22B-371B404DB8AF}" type="presParOf" srcId="{D5DB5365-EBD2-4FD0-9530-BBE3590558C9}" destId="{5003703F-8FF7-46E0-9319-E4C7B7F520E4}" srcOrd="9" destOrd="0" presId="urn:microsoft.com/office/officeart/2005/8/layout/list1"/>
    <dgm:cxn modelId="{7BE1D02A-E4D6-43AE-ABDD-1C2C4E82A955}" type="presParOf" srcId="{D5DB5365-EBD2-4FD0-9530-BBE3590558C9}" destId="{6A39C318-5BD8-46B0-AB48-83144C6FFCB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157F58-3F66-47B5-83C0-1A6A61B3E6AA}">
      <dsp:nvSpPr>
        <dsp:cNvPr id="0" name=""/>
        <dsp:cNvSpPr/>
      </dsp:nvSpPr>
      <dsp:spPr>
        <a:xfrm>
          <a:off x="0" y="503574"/>
          <a:ext cx="10662150" cy="1252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7501" tIns="624840" rIns="827501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70:30 Split </a:t>
          </a:r>
        </a:p>
      </dsp:txBody>
      <dsp:txXfrm>
        <a:off x="0" y="503574"/>
        <a:ext cx="10662150" cy="1252125"/>
      </dsp:txXfrm>
    </dsp:sp>
    <dsp:sp modelId="{37AB265D-1304-4ADB-BF67-A116A8A7764D}">
      <dsp:nvSpPr>
        <dsp:cNvPr id="0" name=""/>
        <dsp:cNvSpPr/>
      </dsp:nvSpPr>
      <dsp:spPr>
        <a:xfrm>
          <a:off x="533107" y="60774"/>
          <a:ext cx="7463505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103" tIns="0" rIns="28210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Training Test Split</a:t>
          </a:r>
        </a:p>
      </dsp:txBody>
      <dsp:txXfrm>
        <a:off x="576338" y="104005"/>
        <a:ext cx="7377043" cy="799138"/>
      </dsp:txXfrm>
    </dsp:sp>
    <dsp:sp modelId="{8E95AA4B-6BE6-4252-AC31-6583B6858508}">
      <dsp:nvSpPr>
        <dsp:cNvPr id="0" name=""/>
        <dsp:cNvSpPr/>
      </dsp:nvSpPr>
      <dsp:spPr>
        <a:xfrm>
          <a:off x="0" y="2360499"/>
          <a:ext cx="10662150" cy="1252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7501" tIns="624840" rIns="827501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 - 1</a:t>
          </a:r>
        </a:p>
      </dsp:txBody>
      <dsp:txXfrm>
        <a:off x="0" y="2360499"/>
        <a:ext cx="10662150" cy="1252125"/>
      </dsp:txXfrm>
    </dsp:sp>
    <dsp:sp modelId="{CBE72FB2-5F4A-4AD3-B2B4-9B77E4E69764}">
      <dsp:nvSpPr>
        <dsp:cNvPr id="0" name=""/>
        <dsp:cNvSpPr/>
      </dsp:nvSpPr>
      <dsp:spPr>
        <a:xfrm>
          <a:off x="533107" y="1917699"/>
          <a:ext cx="7463505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103" tIns="0" rIns="28210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LOOCV</a:t>
          </a:r>
        </a:p>
      </dsp:txBody>
      <dsp:txXfrm>
        <a:off x="576338" y="1960930"/>
        <a:ext cx="7377043" cy="799138"/>
      </dsp:txXfrm>
    </dsp:sp>
    <dsp:sp modelId="{6A39C318-5BD8-46B0-AB48-83144C6FFCB2}">
      <dsp:nvSpPr>
        <dsp:cNvPr id="0" name=""/>
        <dsp:cNvSpPr/>
      </dsp:nvSpPr>
      <dsp:spPr>
        <a:xfrm>
          <a:off x="0" y="4217424"/>
          <a:ext cx="10662150" cy="1748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7501" tIns="624840" rIns="827501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N/K Groups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K = 10</a:t>
          </a:r>
        </a:p>
      </dsp:txBody>
      <dsp:txXfrm>
        <a:off x="0" y="4217424"/>
        <a:ext cx="10662150" cy="1748250"/>
      </dsp:txXfrm>
    </dsp:sp>
    <dsp:sp modelId="{CD86A29C-CF96-4C15-BAF9-FF498F939870}">
      <dsp:nvSpPr>
        <dsp:cNvPr id="0" name=""/>
        <dsp:cNvSpPr/>
      </dsp:nvSpPr>
      <dsp:spPr>
        <a:xfrm>
          <a:off x="533107" y="3774624"/>
          <a:ext cx="7463505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103" tIns="0" rIns="28210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K-Fold CV</a:t>
          </a:r>
        </a:p>
      </dsp:txBody>
      <dsp:txXfrm>
        <a:off x="576338" y="3817855"/>
        <a:ext cx="7377043" cy="79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9B54B-3820-4DE4-B483-F301DF29BD3E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878B4-E8BE-4A79-8924-BE4EA8492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0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878B4-E8BE-4A79-8924-BE4EA84922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63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878B4-E8BE-4A79-8924-BE4EA84922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84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878B4-E8BE-4A79-8924-BE4EA84922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27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878B4-E8BE-4A79-8924-BE4EA84922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82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878B4-E8BE-4A79-8924-BE4EA84922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66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878B4-E8BE-4A79-8924-BE4EA84922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92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878B4-E8BE-4A79-8924-BE4EA84922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066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878B4-E8BE-4A79-8924-BE4EA84922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97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4958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98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2596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96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7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1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3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7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13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4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790CF8F-444D-4B4B-90A3-D811F811A0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0A2E44A-B0BC-4056-9A72-1B5CA7682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1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EA8B-DF9F-246C-CC92-BC5D47733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071222"/>
            <a:ext cx="9418320" cy="1241682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Evaluating Prediction errors Nonparametrically and parametrically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A2729-23A3-35F1-5FD1-70D6CF2B8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3651124"/>
            <a:ext cx="9418320" cy="1691640"/>
          </a:xfrm>
        </p:spPr>
        <p:txBody>
          <a:bodyPr/>
          <a:lstStyle/>
          <a:p>
            <a:pPr algn="ctr"/>
            <a:r>
              <a:rPr lang="en-US" dirty="0"/>
              <a:t>José Pedro Gama de Sousa Rodrigues</a:t>
            </a:r>
          </a:p>
          <a:p>
            <a:pPr algn="ctr"/>
            <a:r>
              <a:rPr lang="en-US" dirty="0"/>
              <a:t>202006455</a:t>
            </a:r>
          </a:p>
          <a:p>
            <a:pPr algn="ctr"/>
            <a:r>
              <a:rPr lang="en-US" dirty="0"/>
              <a:t>Inferential Statistics </a:t>
            </a:r>
          </a:p>
          <a:p>
            <a:endParaRPr lang="en-US" dirty="0"/>
          </a:p>
        </p:txBody>
      </p:sp>
      <p:pic>
        <p:nvPicPr>
          <p:cNvPr id="4" name="Picture 3" descr="Receção Novos Estudantes FCUP 2024/25">
            <a:extLst>
              <a:ext uri="{FF2B5EF4-FFF2-40B4-BE49-F238E27FC236}">
                <a16:creationId xmlns:a16="http://schemas.microsoft.com/office/drawing/2014/main" id="{A74087A9-0477-FBD8-A1BC-4DDD4B6B2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10" y="4710742"/>
            <a:ext cx="3766477" cy="14934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312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41"/>
    </mc:Choice>
    <mc:Fallback xmlns="">
      <p:transition spd="slow" advTm="1034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1324D-AF74-73A3-4DFD-B86A9692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FPL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C959D-0C2C-B0A9-AC3B-74B18EE3C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173" y="1789927"/>
            <a:ext cx="10515600" cy="1226494"/>
          </a:xfrm>
        </p:spPr>
        <p:txBody>
          <a:bodyPr/>
          <a:lstStyle/>
          <a:p>
            <a:r>
              <a:rPr lang="en-US" dirty="0"/>
              <a:t>Game</a:t>
            </a:r>
          </a:p>
          <a:p>
            <a:r>
              <a:rPr lang="en-US" dirty="0"/>
              <a:t>628 observations &amp; 16 Variables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85198-4665-1581-38A2-96AECFE35E73}"/>
              </a:ext>
            </a:extLst>
          </p:cNvPr>
          <p:cNvSpPr txBox="1"/>
          <p:nvPr/>
        </p:nvSpPr>
        <p:spPr>
          <a:xfrm>
            <a:off x="7080771" y="2967335"/>
            <a:ext cx="4979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Categorical</a:t>
            </a:r>
            <a:r>
              <a:rPr lang="en-US" sz="24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15FD1-3DE9-D041-C3C9-DB4966464A97}"/>
              </a:ext>
            </a:extLst>
          </p:cNvPr>
          <p:cNvSpPr txBox="1"/>
          <p:nvPr/>
        </p:nvSpPr>
        <p:spPr>
          <a:xfrm>
            <a:off x="1929432" y="2929893"/>
            <a:ext cx="4979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Numerical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0230A-234C-F8EC-77AD-1F2A3CEF40D5}"/>
              </a:ext>
            </a:extLst>
          </p:cNvPr>
          <p:cNvSpPr txBox="1"/>
          <p:nvPr/>
        </p:nvSpPr>
        <p:spPr>
          <a:xfrm>
            <a:off x="560173" y="3595112"/>
            <a:ext cx="25340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Goals Scored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Yellow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Minutes Played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1E851-50A2-07AC-C1B8-09B147B945DE}"/>
              </a:ext>
            </a:extLst>
          </p:cNvPr>
          <p:cNvSpPr txBox="1"/>
          <p:nvPr/>
        </p:nvSpPr>
        <p:spPr>
          <a:xfrm>
            <a:off x="6501368" y="3595112"/>
            <a:ext cx="5130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Player Name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Player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B70187-9A55-1E6F-6814-4FC697822A89}"/>
              </a:ext>
            </a:extLst>
          </p:cNvPr>
          <p:cNvSpPr txBox="1"/>
          <p:nvPr/>
        </p:nvSpPr>
        <p:spPr>
          <a:xfrm>
            <a:off x="2854411" y="3595112"/>
            <a:ext cx="29635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TSB (% of teams possessing the player)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 (number of clean sheets)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Shots on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Goals Conceded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BPS</a:t>
            </a:r>
          </a:p>
        </p:txBody>
      </p:sp>
      <p:pic>
        <p:nvPicPr>
          <p:cNvPr id="1030" name="Picture 6" descr="Guide To FPL 2023-24 - FPL Tips">
            <a:extLst>
              <a:ext uri="{FF2B5EF4-FFF2-40B4-BE49-F238E27FC236}">
                <a16:creationId xmlns:a16="http://schemas.microsoft.com/office/drawing/2014/main" id="{2FEDB5F5-EF07-60ED-DAB7-634081335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928" y="468302"/>
            <a:ext cx="3735345" cy="209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PL - playlist by Premier League | Spotify">
            <a:extLst>
              <a:ext uri="{FF2B5EF4-FFF2-40B4-BE49-F238E27FC236}">
                <a16:creationId xmlns:a16="http://schemas.microsoft.com/office/drawing/2014/main" id="{F9E3DDAD-7126-9A68-0A47-8E657878A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896" y="4648551"/>
            <a:ext cx="2031325" cy="20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50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62"/>
    </mc:Choice>
    <mc:Fallback xmlns="">
      <p:transition spd="slow" advTm="1456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45BE1-3FE8-5250-EAFE-2C501B8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36242"/>
            <a:ext cx="9692640" cy="1325562"/>
          </a:xfrm>
        </p:spPr>
        <p:txBody>
          <a:bodyPr/>
          <a:lstStyle/>
          <a:p>
            <a:r>
              <a:rPr lang="en-US" dirty="0"/>
              <a:t>Prediction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F930D7-AB56-1003-A30D-311AD93AF8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00502" y="1642447"/>
                <a:ext cx="8595360" cy="435133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Multiple Linear Regression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r>
                  <a:rPr lang="en-US" sz="2400" dirty="0"/>
                  <a:t>Ridge Regression</a:t>
                </a:r>
              </a:p>
              <a:p>
                <a:pPr lvl="1"/>
                <a:r>
                  <a:rPr lang="en-US" sz="2000" dirty="0"/>
                  <a:t>Alpha = 0; Lambda =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6.434233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𝑅𝑆𝑆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𝑅𝑖𝑑𝑔𝑒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r>
                  <a:rPr lang="en-US" sz="2400" dirty="0"/>
                  <a:t>Lasso Regression</a:t>
                </a:r>
              </a:p>
              <a:p>
                <a:pPr lvl="1"/>
                <a:r>
                  <a:rPr lang="en-US" sz="1800" dirty="0"/>
                  <a:t>Alpha = 1; Lambda =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0.4233296</m:t>
                    </m:r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𝑅𝑆𝑆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𝑙𝑎𝑠𝑠𝑜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Regression Trees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F930D7-AB56-1003-A30D-311AD93AF8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00502" y="1642447"/>
                <a:ext cx="8595360" cy="4351337"/>
              </a:xfrm>
              <a:blipFill>
                <a:blip r:embed="rId5"/>
                <a:stretch>
                  <a:fillRect l="-567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8F5E97C7-9FC7-49D8-F4EA-29A3A6E5804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297" y="531479"/>
            <a:ext cx="3028893" cy="2622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C1B68B-7FB7-C62E-76B3-9A648B6636C8}"/>
              </a:ext>
            </a:extLst>
          </p:cNvPr>
          <p:cNvSpPr txBox="1"/>
          <p:nvPr/>
        </p:nvSpPr>
        <p:spPr>
          <a:xfrm>
            <a:off x="7590747" y="263954"/>
            <a:ext cx="308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Ridge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20196-B799-1FB2-B878-08E8A4855781}"/>
              </a:ext>
            </a:extLst>
          </p:cNvPr>
          <p:cNvSpPr txBox="1"/>
          <p:nvPr/>
        </p:nvSpPr>
        <p:spPr>
          <a:xfrm>
            <a:off x="7590747" y="3135520"/>
            <a:ext cx="293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Lasso Regression</a:t>
            </a:r>
          </a:p>
        </p:txBody>
      </p:sp>
      <p:pic>
        <p:nvPicPr>
          <p:cNvPr id="10" name="Picture 9" descr="A graph with numbers and a line&#10;&#10;Description automatically generated">
            <a:extLst>
              <a:ext uri="{FF2B5EF4-FFF2-40B4-BE49-F238E27FC236}">
                <a16:creationId xmlns:a16="http://schemas.microsoft.com/office/drawing/2014/main" id="{89BD6431-6159-D048-A879-EAFF036224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020" y="3585495"/>
            <a:ext cx="3029171" cy="2622882"/>
          </a:xfrm>
          <a:prstGeom prst="rect">
            <a:avLst/>
          </a:prstGeom>
        </p:spPr>
      </p:pic>
      <p:pic>
        <p:nvPicPr>
          <p:cNvPr id="14" name="Picture 13" descr="A diagram of a tree&#10;&#10;Description automatically generated">
            <a:extLst>
              <a:ext uri="{FF2B5EF4-FFF2-40B4-BE49-F238E27FC236}">
                <a16:creationId xmlns:a16="http://schemas.microsoft.com/office/drawing/2014/main" id="{21C87A61-E5E3-49A9-9778-C7383D1075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374" y="4976232"/>
            <a:ext cx="2102997" cy="182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1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239"/>
    </mc:Choice>
    <mc:Fallback xmlns="">
      <p:transition spd="slow" advTm="6023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8837-533E-9EC1-2802-1734575A6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527510"/>
            <a:ext cx="9418320" cy="4041648"/>
          </a:xfrm>
        </p:spPr>
        <p:txBody>
          <a:bodyPr/>
          <a:lstStyle/>
          <a:p>
            <a:pPr algn="ctr"/>
            <a:r>
              <a:rPr lang="en-US" dirty="0"/>
              <a:t>Non-</a:t>
            </a:r>
            <a:r>
              <a:rPr lang="en-US" dirty="0" err="1"/>
              <a:t>Parameteric</a:t>
            </a:r>
            <a:r>
              <a:rPr lang="en-US" dirty="0"/>
              <a:t> Analysis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9E47F9A-83BA-BE0B-C393-5F4D6CF6D5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7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73"/>
    </mc:Choice>
    <mc:Fallback xmlns="">
      <p:transition spd="slow" advTm="397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72356EF8-DF07-68F8-923A-B796D1ADCE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2704" y="306845"/>
          <a:ext cx="10662150" cy="6026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FBCFF3E-99D3-DE63-7294-2437708BEF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4388" y="1334658"/>
            <a:ext cx="2955032" cy="7017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11A37B-AA66-F14D-BABF-F2455A386D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7580" y="3168918"/>
            <a:ext cx="4926786" cy="72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763"/>
    </mc:Choice>
    <mc:Fallback xmlns="">
      <p:transition spd="slow" advTm="6776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D3D07-01F9-F613-FE65-BA9AC86A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771" y="453415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Error Evaluation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0C682-6D65-0299-3BDA-CA83300DF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28" y="2207713"/>
            <a:ext cx="4010585" cy="1133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79C6B4-E10F-7C31-7F12-971B93253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3" y="3712279"/>
            <a:ext cx="4315427" cy="752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1F96F3-6C2F-365A-47BF-F1249B630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798" y="5159208"/>
            <a:ext cx="3343742" cy="7716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70FE10-875D-1686-69BA-5AD87AA2C934}"/>
              </a:ext>
            </a:extLst>
          </p:cNvPr>
          <p:cNvSpPr txBox="1"/>
          <p:nvPr/>
        </p:nvSpPr>
        <p:spPr>
          <a:xfrm>
            <a:off x="5786204" y="2538599"/>
            <a:ext cx="5621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Root Mean Squared Error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EA06FE-C26F-2C2A-BD0F-81D1B488BAB1}"/>
              </a:ext>
            </a:extLst>
          </p:cNvPr>
          <p:cNvSpPr txBox="1"/>
          <p:nvPr/>
        </p:nvSpPr>
        <p:spPr>
          <a:xfrm>
            <a:off x="5786204" y="3857737"/>
            <a:ext cx="5621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 - Squared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D4EE47-A90C-31AD-2A7A-2966BED76B2E}"/>
              </a:ext>
            </a:extLst>
          </p:cNvPr>
          <p:cNvSpPr txBox="1"/>
          <p:nvPr/>
        </p:nvSpPr>
        <p:spPr>
          <a:xfrm>
            <a:off x="5848663" y="5314193"/>
            <a:ext cx="5621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Mean Absolute Error</a:t>
            </a:r>
          </a:p>
        </p:txBody>
      </p:sp>
    </p:spTree>
    <p:extLst>
      <p:ext uri="{BB962C8B-B14F-4D97-AF65-F5344CB8AC3E}">
        <p14:creationId xmlns:p14="http://schemas.microsoft.com/office/powerpoint/2010/main" val="352307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84"/>
    </mc:Choice>
    <mc:Fallback xmlns="">
      <p:transition spd="slow" advTm="2138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9906A-8BD0-7EBB-11CF-91BF5CA5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37" y="-103254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Picture 3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D7F90D77-A181-6241-DCC8-4F399B194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466" y="1969632"/>
            <a:ext cx="4350988" cy="14593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534695-D578-A817-2A81-9A8AD0625BF2}"/>
              </a:ext>
            </a:extLst>
          </p:cNvPr>
          <p:cNvSpPr txBox="1"/>
          <p:nvPr/>
        </p:nvSpPr>
        <p:spPr>
          <a:xfrm>
            <a:off x="7150560" y="1462931"/>
            <a:ext cx="605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 Test Set</a:t>
            </a:r>
          </a:p>
        </p:txBody>
      </p:sp>
      <p:pic>
        <p:nvPicPr>
          <p:cNvPr id="6" name="Picture 5" descr="A table with numbers and a number&#10;&#10;Description automatically generated">
            <a:extLst>
              <a:ext uri="{FF2B5EF4-FFF2-40B4-BE49-F238E27FC236}">
                <a16:creationId xmlns:a16="http://schemas.microsoft.com/office/drawing/2014/main" id="{886C6E16-025D-326A-BD79-7CA943C13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57" y="1969632"/>
            <a:ext cx="4487247" cy="1459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81DEF0-E2A8-6C25-8F86-6D2EF6B758B2}"/>
              </a:ext>
            </a:extLst>
          </p:cNvPr>
          <p:cNvSpPr txBox="1"/>
          <p:nvPr/>
        </p:nvSpPr>
        <p:spPr>
          <a:xfrm>
            <a:off x="-216927" y="1515759"/>
            <a:ext cx="5928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LOO Cross- Validation</a:t>
            </a:r>
          </a:p>
        </p:txBody>
      </p:sp>
      <p:pic>
        <p:nvPicPr>
          <p:cNvPr id="8" name="Picture 7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89621516-E1D8-DBFB-C4B7-CF23593CA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7378" y="4387703"/>
            <a:ext cx="5356582" cy="17396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532982-AF81-A1EB-C7E2-89A988A0B486}"/>
              </a:ext>
            </a:extLst>
          </p:cNvPr>
          <p:cNvSpPr txBox="1"/>
          <p:nvPr/>
        </p:nvSpPr>
        <p:spPr>
          <a:xfrm>
            <a:off x="3878716" y="3874340"/>
            <a:ext cx="5928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– Fold Cross- Validation</a:t>
            </a:r>
          </a:p>
        </p:txBody>
      </p:sp>
    </p:spTree>
    <p:extLst>
      <p:ext uri="{BB962C8B-B14F-4D97-AF65-F5344CB8AC3E}">
        <p14:creationId xmlns:p14="http://schemas.microsoft.com/office/powerpoint/2010/main" val="210014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77"/>
    </mc:Choice>
    <mc:Fallback xmlns="">
      <p:transition spd="slow" advTm="1377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B74E-39DD-87B9-1B77-880073C9A0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Parametric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2F4D4-AB5E-7C79-929C-BB3165EF79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2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0"/>
    </mc:Choice>
    <mc:Fallback xmlns="">
      <p:transition spd="slow" advTm="318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5373A-35AA-221C-D0F0-89E750F1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Mallows Cp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B6A6D-8F64-E49D-9A04-79C8F353EC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New regression rule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acc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b="1" dirty="0"/>
                  <a:t>y</a:t>
                </a:r>
                <a:r>
                  <a:rPr lang="en-US" dirty="0"/>
                  <a:t> ~ (𝝁,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,𝑰)</a:t>
                </a:r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Covariance Penalty lemma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𝐸𝑟𝑟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𝑎𝑝𝑝𝑎𝑟𝑒𝑛𝑡</m:t>
                            </m:r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𝑒𝑟𝑟𝑜𝑟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𝑐𝑜𝑣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𝐴𝑝𝑝𝑎𝑟𝑒𝑛𝑡</m:t>
                    </m:r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𝑒𝑟𝑟𝑜𝑟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18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74320" lvl="1" indent="0">
                  <a:buNone/>
                </a:pPr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Mallows Cp Formula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𝐸𝑟𝑟</m:t>
                        </m:r>
                      </m:e>
                    </m:acc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 = </m:t>
                    </m:r>
                    <m:f>
                      <m:f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sSubSup>
                      <m:sSubSup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bSup>
                    <m:r>
                      <a:rPr lang="en-US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 </m:t>
                    </m:r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 </m:t>
                    </m:r>
                    <m:f>
                      <m:f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Degrees of Freedom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𝑑𝑓</m:t>
                    </m:r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f>
                      <m:f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  <m:sSubSup>
                      <m:sSub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bSup>
                    <m:acc>
                      <m:accPr>
                        <m:chr m:val="̂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𝑐𝑜𝑣</m:t>
                        </m:r>
                      </m:e>
                    </m:acc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B6A6D-8F64-E49D-9A04-79C8F353E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42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C13484D-9AEB-145F-CBBF-53439DD23945}"/>
              </a:ext>
            </a:extLst>
          </p:cNvPr>
          <p:cNvSpPr txBox="1"/>
          <p:nvPr/>
        </p:nvSpPr>
        <p:spPr>
          <a:xfrm>
            <a:off x="8083016" y="1506656"/>
            <a:ext cx="430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Results</a:t>
            </a:r>
          </a:p>
        </p:txBody>
      </p:sp>
      <p:pic>
        <p:nvPicPr>
          <p:cNvPr id="6" name="Picture 5" descr="A black and white text with black numbers&#10;&#10;Description automatically generated">
            <a:extLst>
              <a:ext uri="{FF2B5EF4-FFF2-40B4-BE49-F238E27FC236}">
                <a16:creationId xmlns:a16="http://schemas.microsoft.com/office/drawing/2014/main" id="{999C4302-A7CC-10AE-BB9E-1A9FEFE5B7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712" y="2013466"/>
            <a:ext cx="3923222" cy="135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7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257"/>
    </mc:Choice>
    <mc:Fallback xmlns="">
      <p:transition spd="slow" advTm="9625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AE57-8E9B-EAB2-745B-DB187862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2B19C-0A59-6EEA-8505-A1D1F9D4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both parametric and non-parametric methods Multiple linear regression seems to be the most accurate model</a:t>
            </a:r>
          </a:p>
          <a:p>
            <a:r>
              <a:rPr lang="en-US" dirty="0"/>
              <a:t>Nonparametric methods showed great results</a:t>
            </a:r>
          </a:p>
          <a:p>
            <a:r>
              <a:rPr lang="en-US" dirty="0"/>
              <a:t>Parametric methods suggested overfit models</a:t>
            </a:r>
          </a:p>
          <a:p>
            <a:r>
              <a:rPr lang="en-US" dirty="0"/>
              <a:t>Future work</a:t>
            </a:r>
          </a:p>
          <a:p>
            <a:pPr lvl="1"/>
            <a:r>
              <a:rPr lang="en-US" dirty="0"/>
              <a:t>A bigger variety of models</a:t>
            </a:r>
          </a:p>
          <a:p>
            <a:pPr lvl="1"/>
            <a:r>
              <a:rPr lang="en-US" dirty="0"/>
              <a:t>More parametric accuracy evaluation methods</a:t>
            </a:r>
          </a:p>
          <a:p>
            <a:pPr lvl="1"/>
            <a:r>
              <a:rPr lang="en-US" dirty="0"/>
              <a:t>Combination of both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4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500"/>
    </mc:Choice>
    <mc:Fallback xmlns="">
      <p:transition spd="slow" advTm="47500"/>
    </mc:Fallback>
  </mc:AlternateContent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3239</TotalTime>
  <Words>281</Words>
  <Application>Microsoft Office PowerPoint</Application>
  <PresentationFormat>Widescreen</PresentationFormat>
  <Paragraphs>83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Cambria Math</vt:lpstr>
      <vt:lpstr>Century Schoolbook</vt:lpstr>
      <vt:lpstr>Wingdings 2</vt:lpstr>
      <vt:lpstr>View</vt:lpstr>
      <vt:lpstr>Evaluating Prediction errors Nonparametrically and parametrically</vt:lpstr>
      <vt:lpstr>FPL Dataset</vt:lpstr>
      <vt:lpstr>Prediction Rule</vt:lpstr>
      <vt:lpstr>Non-Parameteric Analysis</vt:lpstr>
      <vt:lpstr>PowerPoint Presentation</vt:lpstr>
      <vt:lpstr>Error Evaluation </vt:lpstr>
      <vt:lpstr>Results</vt:lpstr>
      <vt:lpstr>Parametric  Analysis</vt:lpstr>
      <vt:lpstr>Mallows Cp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Pedro Gama de Sousa Rodrigues</dc:creator>
  <cp:lastModifiedBy>José Pedro Gama de Sousa Rodrigues</cp:lastModifiedBy>
  <cp:revision>8</cp:revision>
  <dcterms:created xsi:type="dcterms:W3CDTF">2025-01-05T19:20:57Z</dcterms:created>
  <dcterms:modified xsi:type="dcterms:W3CDTF">2025-01-14T17:58:56Z</dcterms:modified>
</cp:coreProperties>
</file>